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6" r:id="rId23"/>
    <p:sldId id="277" r:id="rId24"/>
    <p:sldId id="281" r:id="rId25"/>
    <p:sldId id="282" r:id="rId26"/>
    <p:sldId id="278" r:id="rId27"/>
    <p:sldId id="279" r:id="rId28"/>
    <p:sldId id="280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LightGBM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0.626</c:v>
                </c:pt>
                <c:pt idx="1">
                  <c:v>0.63800000000000001</c:v>
                </c:pt>
                <c:pt idx="2">
                  <c:v>0.67100000000000004</c:v>
                </c:pt>
                <c:pt idx="3">
                  <c:v>0.69399999999999995</c:v>
                </c:pt>
                <c:pt idx="4">
                  <c:v>0.69399999999999995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B-4B9E-9752-9D01832935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1F2937"/>
                </a:solidFill>
                <a:latin typeface="Arial"/>
              </a:rPr>
              <a:t>Lift vs % de clientes contactados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ln w="38100" cap="flat">
              <a:solidFill>
                <a:srgbClr val="0078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8D4"/>
              </a:solidFill>
              <a:ln w="9525" cap="flat">
                <a:solidFill>
                  <a:srgbClr val="0078D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5%</c:v>
                </c:pt>
                <c:pt idx="1">
                  <c:v>10%</c:v>
                </c:pt>
                <c:pt idx="2">
                  <c:v>15%</c:v>
                </c:pt>
                <c:pt idx="3">
                  <c:v>20%</c:v>
                </c:pt>
                <c:pt idx="4">
                  <c:v>25%</c:v>
                </c:pt>
                <c:pt idx="5">
                  <c:v>30%</c:v>
                </c:pt>
                <c:pt idx="6">
                  <c:v>40%</c:v>
                </c:pt>
                <c:pt idx="7">
                  <c:v>50%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1.67</c:v>
                </c:pt>
                <c:pt idx="1">
                  <c:v>1.59</c:v>
                </c:pt>
                <c:pt idx="2">
                  <c:v>1.54</c:v>
                </c:pt>
                <c:pt idx="3">
                  <c:v>1.49</c:v>
                </c:pt>
                <c:pt idx="4">
                  <c:v>1.44</c:v>
                </c:pt>
                <c:pt idx="5">
                  <c:v>1.41</c:v>
                </c:pt>
                <c:pt idx="6">
                  <c:v>1.35</c:v>
                </c:pt>
                <c:pt idx="7">
                  <c:v>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96-460D-A51E-15EBFD25EE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5%</c:v>
                </c:pt>
                <c:pt idx="1">
                  <c:v>10%</c:v>
                </c:pt>
                <c:pt idx="2">
                  <c:v>15%</c:v>
                </c:pt>
                <c:pt idx="3">
                  <c:v>20%</c:v>
                </c:pt>
                <c:pt idx="4">
                  <c:v>25%</c:v>
                </c:pt>
                <c:pt idx="5">
                  <c:v>30%</c:v>
                </c:pt>
                <c:pt idx="6">
                  <c:v>40%</c:v>
                </c:pt>
                <c:pt idx="7">
                  <c:v>50%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96-460D-A51E-15EBFD25EE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.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64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9144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Telecomunicaciones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— Data Scientist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Montero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9" name="Oval 8"/>
          <p:cNvSpPr/>
          <p:nvPr/>
        </p:nvSpPr>
        <p:spPr>
          <a:xfrm>
            <a:off x="6400000" y="800000"/>
            <a:ext cx="3200000" cy="32000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00000" y="25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00000" y="300000"/>
            <a:ext cx="1000000" cy="10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2104" y="178308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" y="233172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" y="288036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344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" y="342900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344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" y="397764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siguientes pasos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30" name="Oval 29"/>
          <p:cNvSpPr/>
          <p:nvPr/>
        </p:nvSpPr>
        <p:spPr>
          <a:xfrm>
            <a:off x="5500000" y="500000"/>
            <a:ext cx="2500000" cy="2500000"/>
          </a:xfrm>
          <a:prstGeom prst="ellipse">
            <a:avLst/>
          </a:prstGeom>
          <a:solidFill>
            <a:srgbClr val="0078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00000" y="2000000"/>
            <a:ext cx="1800000" cy="1800000"/>
          </a:xfrm>
          <a:prstGeom prst="ellipse">
            <a:avLst/>
          </a:prstGeom>
          <a:solidFill>
            <a:srgbClr val="0078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00000" y="3200000"/>
            <a:ext cx="1200000" cy="1200000"/>
          </a:xfrm>
          <a:prstGeom prst="ellipse">
            <a:avLst/>
          </a:prstGeom>
          <a:solidFill>
            <a:srgbClr val="0078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churn en telecomunicaciones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Churn en Telecomunicaciones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Captar un nuevo cliente cuesta 5-7x más que retener uno existente.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En telecomunicaciones, el churn mensual típico oscila entre el 1-3%. Identificar clientes en riesgo ANTES de que se vayan permite intervenir con ofertas de retención dirigidas.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Objetivo: construir un modelo predictivo que identifique a los clientes con mayor probabilidad de abandonar, permitiendo priorizar acciones de retención.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73152" cy="9601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el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331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73152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035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03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474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73152" cy="960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0352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churn/no-churn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clave, peculiaridades y feature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</a:rPr>
              <a:t>Radiografía del Dataset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DG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</a:rPr>
              <a:t>sdg group</a:t>
            </a:r>
          </a:p>
        </p:txBody>
      </p:sp>
      <p:sp>
        <p:nvSpPr>
          <p:cNvPr id="5" name="Copyright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</a:rPr>
              <a:t>Copyright © SDG Group</a:t>
            </a:r>
          </a:p>
        </p:txBody>
      </p:sp>
      <p:sp>
        <p:nvSpPr>
          <p:cNvPr id="10" name="S1Bg"/>
          <p:cNvSpPr/>
          <p:nvPr/>
        </p:nvSpPr>
        <p:spPr>
          <a:xfrm>
            <a:off x="457200" y="9144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1Num"/>
          <p:cNvSpPr/>
          <p:nvPr/>
        </p:nvSpPr>
        <p:spPr>
          <a:xfrm>
            <a:off x="457200" y="9372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</a:rPr>
              <a:t>100K x 100</a:t>
            </a:r>
          </a:p>
        </p:txBody>
      </p:sp>
      <p:sp>
        <p:nvSpPr>
          <p:cNvPr id="12" name="S1Lbl"/>
          <p:cNvSpPr/>
          <p:nvPr/>
        </p:nvSpPr>
        <p:spPr>
          <a:xfrm>
            <a:off x="457200" y="13487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69 float + 10 int + 21 categóricas</a:t>
            </a:r>
          </a:p>
        </p:txBody>
      </p:sp>
      <p:sp>
        <p:nvSpPr>
          <p:cNvPr id="13" name="S2Bg"/>
          <p:cNvSpPr/>
          <p:nvPr/>
        </p:nvSpPr>
        <p:spPr>
          <a:xfrm>
            <a:off x="3291840" y="9144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2Num"/>
          <p:cNvSpPr/>
          <p:nvPr/>
        </p:nvSpPr>
        <p:spPr>
          <a:xfrm>
            <a:off x="3291840" y="9372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</a:rPr>
              <a:t>43 cols con nulos</a:t>
            </a:r>
          </a:p>
        </p:txBody>
      </p:sp>
      <p:sp>
        <p:nvSpPr>
          <p:cNvPr id="15" name="S2Lbl"/>
          <p:cNvSpPr/>
          <p:nvPr/>
        </p:nvSpPr>
        <p:spPr>
          <a:xfrm>
            <a:off x="3291840" y="13487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Hasta 49% missing + nulos ocultos (U, Z)</a:t>
            </a:r>
          </a:p>
        </p:txBody>
      </p:sp>
      <p:sp>
        <p:nvSpPr>
          <p:cNvPr id="16" name="S3Bg"/>
          <p:cNvSpPr/>
          <p:nvPr/>
        </p:nvSpPr>
        <p:spPr>
          <a:xfrm>
            <a:off x="6126480" y="9144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3Num"/>
          <p:cNvSpPr/>
          <p:nvPr/>
        </p:nvSpPr>
        <p:spPr>
          <a:xfrm>
            <a:off x="6126480" y="9372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</a:rPr>
              <a:t>50.4 / 49.6%</a:t>
            </a:r>
          </a:p>
        </p:txBody>
      </p:sp>
      <p:sp>
        <p:nvSpPr>
          <p:cNvPr id="18" name="S3Lbl"/>
          <p:cNvSpPr/>
          <p:nvPr/>
        </p:nvSpPr>
        <p:spPr>
          <a:xfrm>
            <a:off x="6126480" y="13487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No Churn / Churn (balance artificial)</a:t>
            </a:r>
          </a:p>
        </p:txBody>
      </p:sp>
      <p:sp>
        <p:nvSpPr>
          <p:cNvPr id="20" name="LBg"/>
          <p:cNvSpPr/>
          <p:nvPr/>
        </p:nvSpPr>
        <p:spPr>
          <a:xfrm>
            <a:off x="457200" y="182880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Title"/>
          <p:cNvSpPr/>
          <p:nvPr/>
        </p:nvSpPr>
        <p:spPr>
          <a:xfrm>
            <a:off x="594360" y="1905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</a:rPr>
              <a:t>Composición de variables</a:t>
            </a:r>
          </a:p>
        </p:txBody>
      </p:sp>
      <p:sp>
        <p:nvSpPr>
          <p:cNvPr id="22" name="LContent"/>
          <p:cNvSpPr/>
          <p:nvPr/>
        </p:nvSpPr>
        <p:spPr>
          <a:xfrm>
            <a:off x="59436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Char char="■"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</a:rPr>
              <a:t>69 numéricas continuas (float64)</a:t>
            </a:r>
          </a:p>
          <a:p>
            <a:pPr marL="45720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rev_Mean, mou_Mean, totmrc_Mean, change_mou...</a:t>
            </a:r>
          </a:p>
          <a:p>
            <a:pPr marL="228600" indent="-228600">
              <a:buChar char="■"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</a:rPr>
              <a:t>10 numéricas enteras (int64)</a:t>
            </a:r>
          </a:p>
          <a:p>
            <a:pPr marL="45720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months, uniqsubs, actvsubs, eqpdays, churn...</a:t>
            </a:r>
          </a:p>
          <a:p>
            <a:pPr marL="228600" indent="-228600">
              <a:buChar char="■"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</a:rPr>
              <a:t>21 categóricas (object)</a:t>
            </a:r>
          </a:p>
          <a:p>
            <a:pPr marL="45720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area (19 vals), crclscod (54 vals), ethnic, marital...</a:t>
            </a:r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</a:p>
          <a:p>
            <a:pPr marL="228600" indent="-228600">
              <a:buChar char="■"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</a:rPr>
              <a:t>Nulos ocultos: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“U” y “Z” como valores en vez de NaN</a:t>
            </a:r>
          </a:p>
          <a:p>
            <a:pPr marL="228600" indent="-228600">
              <a:buChar char="■"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</a:rPr>
              <a:t>0 duplicados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(Customer_ID unico por fila)</a:t>
            </a:r>
          </a:p>
        </p:txBody>
      </p:sp>
      <p:sp>
        <p:nvSpPr>
          <p:cNvPr id="30" name="RBg"/>
          <p:cNvSpPr/>
          <p:nvPr/>
        </p:nvSpPr>
        <p:spPr>
          <a:xfrm>
            <a:off x="4663440" y="182880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Title"/>
          <p:cNvSpPr/>
          <p:nvPr/>
        </p:nvSpPr>
        <p:spPr>
          <a:xfrm>
            <a:off x="4800600" y="1905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</a:rPr>
              <a:t>Top correlaciones con Churn</a:t>
            </a:r>
          </a:p>
        </p:txBody>
      </p:sp>
      <p:sp>
        <p:nvSpPr>
          <p:cNvPr id="32" name="RContent"/>
          <p:cNvSpPr/>
          <p:nvPr/>
        </p:nvSpPr>
        <p:spPr>
          <a:xfrm>
            <a:off x="480060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Correlaciones lineales bajas (max |r|=0.11). XGBoost captura relaciones no lineales que Pearson no ve.</a:t>
            </a:r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</a:rPr>
              <a:t>↑ eqpdays     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+0.113  (equipo antiguo)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</a:rPr>
              <a:t>↓ hnd_price    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-0.103  (teléfono barato)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</a:rPr>
              <a:t>↓ totmrc_Mean  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-0.069  (factura baja)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</a:rPr>
              <a:t>↓ mou_Mean     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-0.057  (poco uso)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</a:rPr>
              <a:t>↓ complete_Mean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-0.052  (pocas llamadas)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</a:rPr>
              <a:t>↓ models          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</a:rPr>
              <a:t>r = -0.045  (pocos modelos tel.)</a:t>
            </a:r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</a:rPr>
              <a:t>Perfil churner: equipo viejo, gama baja, poco 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Hallazgos Principales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artificial 50/50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esta balanceado artificialmente. Poco realista (churn real ~1-3%), pero elimina la necesidad de técnicas de oversampling.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camuflados ('U', 'Z')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kid0_2 a kid16_17 usan 'U' como null (&gt;90%). Otros campos usan 'Z'. Reemplazados por NaN antes de cualquier análisis.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extrema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variables con correlación r=1.000 (p.ej. rev_Mean/totrev). Eliminamos la de menor correlación con churn (umbral: r&gt;0.98).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54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negativos en eqpdays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antiguedad del equipo con valores negativos (fisicamente imposible). Convertidos a NaN e imputados con la mediana.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Peculiaridades Detectadas en el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125272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252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ordenado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3898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correlacionados con churn. No se usa como feature para evitar data leakage.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54864" cy="5943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85800" y="196596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1965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9164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casi nula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103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&gt;99% del mismo valor eliminadas: no aportan información discriminativa.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54864" cy="5943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85800" y="267919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2679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Dummies sin señal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28163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Binarias con churn rate identico en 0 y 1 (diferencia &lt; 1%). Eliminadas.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23697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" y="3236976"/>
            <a:ext cx="54864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85800" y="339242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5800" y="3392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916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change_mou: leakage?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35295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uso sospechoso. Estudio de ablacion confirmo que NO es leakage (delta AUC &lt; 5 pp).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95020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54864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85800" y="410565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5800" y="4105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9164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&gt;85% nulos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91640" y="42428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Eliminadas directamente. Imputar más del 85% seria inventar datos.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8 Variables Nuevas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rev_per_minute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14630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minuto de uso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 / mou_Mean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1865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call_fail_rate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18653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fallos de llamadas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8653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 + blck) / intentos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4360" y="22677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care_intensity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2267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 contacto soporte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2267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custcare / mou_Mean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670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old_device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5176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antiguo (&gt;1 año)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eqpdays &gt; 365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72384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usage_drop_severe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51760" y="30723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Caida severa de uso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30723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change_mou &lt; -50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94360" y="34747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rev_vs_avg3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3474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vs media histórica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0" y="3474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 / avg3rev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77056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94360" y="38770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new_customer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38770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 (&lt; 6 meses)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38770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&lt;= 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279392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94360" y="4279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engagement_score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651760" y="4279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engagement compuesto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4279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rank(mou + comp + recv) /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variables interpretables para el negocio, derivadas de patrones encontrados en el EDA.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Selección, entrenamiento, evaluación e interpretabilidad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Preprocesamiento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peculiaridades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camuflados, negativos, multicolinealidad, varianza nula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148840"/>
            <a:ext cx="137160" cy="137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29968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2578608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57860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21408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21408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variables nuevas con lógica de negocio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148840"/>
            <a:ext cx="137160" cy="1371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85616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4334256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3342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877056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77056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Categoricas convertidas a numerico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48840"/>
            <a:ext cx="137160" cy="1371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41264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6089904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60899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632704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mediana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632704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numericos rellenados con la mediana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148840"/>
            <a:ext cx="137160" cy="13716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296912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7845552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78455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88352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70/15/15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388352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estratificado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100K filas x 88 columnas limpias, sin leakage, listas para modelar.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5 Modelos Evaluados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972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9728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760720" y="1097280"/>
            <a:ext cx="54864" cy="3291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989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XGBoost?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89320" y="16459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Empata con LightGBM en AUC-ROC (0.694) pero ofrece: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Regularización L1/L2 nativa que controla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Mejor soporte de SHAP (TreeExplainer optimizado)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Ecosistema maduro y well-documented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Tuning más controlable via scale_pos_weight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Logistic Regression se mantiene como baseline interpretable.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RandomizedSearchCV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50000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RandomizedSearchCV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1109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91109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17627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3-fold estratificado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4144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objetivo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44144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AUC-ROC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70662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5, 6, 7, 8]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97180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[0.01, 0.05, 0.1, 0.15]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369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23697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[200, 300, 500]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0215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50215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[0.7, 0.8, 0.9]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76732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[0.6, 0.7, 0.8, 0.9]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325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403250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0.01, 0.1, 0.5]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29768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[0.5, 1.0, 2.0, 5.0]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configuración?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RandomizedSearch vs GridSearch: con 11 hiperparámetros, el grid completo seria intratable. 30 iteraciones aleatorias cubren el espacio de forma eficiente.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3-fold: equilibrio entre robustez estadística y tiempo de computo. Con 100K filas, cada fold tiene ~67K muestras.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AUC-ROC como métrica: es threshold-independent, lo que permite optimizar sin comprometerse a un punto de corte fijo.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Regularización (alpha, lambda): controla overfitting en un dataset con 88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Finales en Test Set (Holdout)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6344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1228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3657600" cy="1143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Pred: No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Pred: Si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Real: No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4,863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2,703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Real: Si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2,665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4,769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846320" y="2651760"/>
            <a:ext cx="3840480" cy="2100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3108960"/>
            <a:ext cx="34747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AUC 0.70 indica capacidad discriminativa moderada-buena. Dado un dataset con 100 features ruidosas y peculiaridades, es un resultado solido.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Recall 64.2%: de cada 100 churners reales, identificamos ~64.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El threshold de 0.50 se puede ajustar segun el coste de FP vs FN del negocio.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Interpretabilidad del Modelo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389120" cy="3383280"/>
          </a:xfrm>
          <a:prstGeom prst="roundRect">
            <a:avLst>
              <a:gd name="adj" fmla="val 216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Features (SHAP Values)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change_mou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288036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7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mou_Mean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56032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7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24028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6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92024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61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60020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roam_Mean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4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avg3mou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96012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4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call_fail_rate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3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5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totrev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32004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31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engagement_score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10972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3035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clave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6002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change_mou (cambio en minutos de uso) es el predictor más fuerte: una caida en el uso es la señal más clara de abandono.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mou_Mean y eqpdays: clientes con poco uso y equipos viejos tienen mayor riesgo.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months: clientes nuevos (&lt;6 meses) son más volátiles.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call_fail_rate (feature nueva): la calidad de servicio impacta directamente en churn.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</a:rPr>
              <a:t>SHAP nos da explicaciones por cliente, no solo globales.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curve, análisis de threshold y recomendaciones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Lift: Impacto en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200400" cy="3500000"/>
          </a:xfrm>
          <a:prstGeom prst="roundRect">
            <a:avLst>
              <a:gd name="adj" fmla="val 2286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577840" y="1097280"/>
            <a:ext cx="54864" cy="32004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0644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práctico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0" y="1554480"/>
            <a:ext cx="283464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Contactando solo al top 10% de clientes por riesgo, capturamos ~16% de los churners.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</a:rPr>
              <a:t>Lift de 1.59x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vs contactar al azar.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Esto significa un 59% más de eficiencia en campañas de retención frente a un enfoque aleatorio.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El ahorro depende del coste de retención y del ARPU del cliente, pero en telco el ROI suele ser positivo contactando al top 20-30%.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Ablacion: change_mou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Sospecha: change_mou podria contener información del futuro (leakage)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predictor #1 en SHAP. Si representara el cambio DESPUÉS de la decision de irse, seria data leakage. Lo verificamos entrenando el modelo sin esta variable y comparando.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4663440" cy="960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 change_mou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 change_mou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0.6986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~0.67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</a:rPr>
                        <a:t>~3 pp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0.6399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~0.62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</a:rPr>
                        <a:t>~2 pp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760720" y="2514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4360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5 pp: change_mou NO es leakage. Es una señal legitima de comportamiento previo al churn.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retención focalizadas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399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modelo para priorizar el top 20-30% de clientes por riesgo. Lift de 1.49x vs aleatorio.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4767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renovacion de equipos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97280" y="2112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eqpdays &gt; 365 tienen mayor churn. Ofrecer upgrade subsidiado.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52374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6090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calidad de red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280" y="2825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call_fail_rate predice churn. Monitorizar y actuar proactivamente ante degradación de servicio.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7413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reforzado para nuevos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97280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&lt; 6 meses son volátiles. Implementar programa de bienvenida con incentivos.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7200" y="39502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8736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semanal automatizado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9728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pipeline periódicamente para actualizar scores y alimentar CRM.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modulares, Airflow DAG y Docker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 y Modularización</a:t>
            </a:r>
          </a:p>
        </p:txBody>
      </p:sp>
      <p:sp>
        <p:nvSpPr>
          <p:cNvPr id="3" name="Accent Line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DG Logo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</a:rPr>
              <a:t>sdg group</a:t>
            </a:r>
          </a:p>
        </p:txBody>
      </p:sp>
      <p:sp>
        <p:nvSpPr>
          <p:cNvPr id="5" name="Copyright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</a:rPr>
              <a:t>Copyright © SDG Group</a:t>
            </a:r>
          </a:p>
        </p:txBody>
      </p:sp>
      <p:sp>
        <p:nvSpPr>
          <p:cNvPr id="50" name="TreeBg"/>
          <p:cNvSpPr/>
          <p:nvPr/>
        </p:nvSpPr>
        <p:spPr>
          <a:xfrm>
            <a:off x="457200" y="86868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reeTitle"/>
          <p:cNvSpPr/>
          <p:nvPr/>
        </p:nvSpPr>
        <p:spPr>
          <a:xfrm>
            <a:off x="571500" y="914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49" charset="0"/>
              </a:rPr>
              <a:t>AI_Test_SDG/</a:t>
            </a:r>
          </a:p>
        </p:txBody>
      </p:sp>
      <p:sp>
        <p:nvSpPr>
          <p:cNvPr id="52" name="TreeContent"/>
          <p:cNvSpPr/>
          <p:nvPr/>
        </p:nvSpPr>
        <p:spPr>
          <a:xfrm>
            <a:off x="571500" y="118872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49" charset="0"/>
              </a:rPr>
              <a:t>├─ scripts/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├─ data_preparation.py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├─ train_model.py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├─ evaluate_model.py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├─ db_utils.py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└─ metrics_exporter.py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49" charset="0"/>
              </a:rPr>
              <a:t>├─ dags/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│   └─ churn_pipeline_dag.py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49" charset="0"/>
              </a:rPr>
              <a:t>├─ data/</a:t>
            </a:r>
            <a:r>
              <a:rPr lang="en-US" sz="900" dirty="0">
                <a:solidFill>
                  <a:srgbClr val="9CA3AF"/>
                </a:solidFill>
                <a:latin typeface="Consolas" pitchFamily="49" charset="0"/>
              </a:rPr>
              <a:t>  dataset.csv, processed/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49" charset="0"/>
              </a:rPr>
              <a:t>├─ models/</a:t>
            </a:r>
            <a:r>
              <a:rPr lang="en-US" sz="900" dirty="0">
                <a:solidFill>
                  <a:srgbClr val="9CA3AF"/>
                </a:solidFill>
                <a:latin typeface="Consolas" pitchFamily="49" charset="0"/>
              </a:rPr>
              <a:t>  *.pickle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49" charset="0"/>
              </a:rPr>
              <a:t>├─ monitoring/</a:t>
            </a:r>
            <a:r>
              <a:rPr lang="en-US" sz="900" dirty="0">
                <a:solidFill>
                  <a:srgbClr val="9CA3AF"/>
                </a:solidFill>
                <a:latin typeface="Consolas" pitchFamily="49" charset="0"/>
              </a:rPr>
              <a:t>  prometheus.yml, grafana/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├─ docker-compose.yaml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├─ Dockerfile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49" charset="0"/>
              </a:rPr>
              <a:t>└─ requirements.txt</a:t>
            </a:r>
          </a:p>
        </p:txBody>
      </p:sp>
      <p:sp>
        <p:nvSpPr>
          <p:cNvPr id="60" name="Card1Bg"/>
          <p:cNvSpPr/>
          <p:nvPr/>
        </p:nvSpPr>
        <p:spPr>
          <a:xfrm>
            <a:off x="3886200" y="868680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Card1Bar"/>
          <p:cNvSpPr/>
          <p:nvPr/>
        </p:nvSpPr>
        <p:spPr>
          <a:xfrm>
            <a:off x="3886200" y="868680"/>
            <a:ext cx="54864" cy="8229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Card1Badge"/>
          <p:cNvSpPr/>
          <p:nvPr/>
        </p:nvSpPr>
        <p:spPr>
          <a:xfrm>
            <a:off x="4114800" y="914400"/>
            <a:ext cx="914400" cy="2286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Card1BadgeTxt"/>
          <p:cNvSpPr/>
          <p:nvPr/>
        </p:nvSpPr>
        <p:spPr>
          <a:xfrm>
            <a:off x="411480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CORE</a:t>
            </a:r>
          </a:p>
        </p:txBody>
      </p:sp>
      <p:sp>
        <p:nvSpPr>
          <p:cNvPr id="64" name="Card1Title"/>
          <p:cNvSpPr/>
          <p:nvPr/>
        </p:nvSpPr>
        <p:spPr>
          <a:xfrm>
            <a:off x="5143500" y="892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3 scripts independientes con main()</a:t>
            </a:r>
          </a:p>
        </p:txBody>
      </p:sp>
      <p:sp>
        <p:nvSpPr>
          <p:cNvPr id="65" name="Card1Desc"/>
          <p:cNvSpPr/>
          <p:nvPr/>
        </p:nvSpPr>
        <p:spPr>
          <a:xfrm>
            <a:off x="4114800" y="1166928"/>
            <a:ext cx="4457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</a:rPr>
              <a:t>Cada script tiene una única responsabilidad. El DAG importa y ejecuta cada main() via PythonOperator. Sin dependencias circulares.</a:t>
            </a:r>
          </a:p>
        </p:txBody>
      </p:sp>
      <p:sp>
        <p:nvSpPr>
          <p:cNvPr id="70" name="Card2Bg"/>
          <p:cNvSpPr/>
          <p:nvPr/>
        </p:nvSpPr>
        <p:spPr>
          <a:xfrm>
            <a:off x="3886200" y="1783080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Card2Bar"/>
          <p:cNvSpPr/>
          <p:nvPr/>
        </p:nvSpPr>
        <p:spPr>
          <a:xfrm>
            <a:off x="3886200" y="178308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Card2Badge"/>
          <p:cNvSpPr/>
          <p:nvPr/>
        </p:nvSpPr>
        <p:spPr>
          <a:xfrm>
            <a:off x="4114800" y="1828800"/>
            <a:ext cx="914400" cy="2286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Card2BadgeTxt"/>
          <p:cNvSpPr/>
          <p:nvPr/>
        </p:nvSpPr>
        <p:spPr>
          <a:xfrm>
            <a:off x="411480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UTILS</a:t>
            </a:r>
          </a:p>
        </p:txBody>
      </p:sp>
      <p:sp>
        <p:nvSpPr>
          <p:cNvPr id="74" name="Card2Title"/>
          <p:cNvSpPr/>
          <p:nvPr/>
        </p:nvSpPr>
        <p:spPr>
          <a:xfrm>
            <a:off x="5143500" y="1807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Módulos reutilizables</a:t>
            </a:r>
          </a:p>
        </p:txBody>
      </p:sp>
      <p:sp>
        <p:nvSpPr>
          <p:cNvPr id="75" name="Card2Desc"/>
          <p:cNvSpPr/>
          <p:nvPr/>
        </p:nvSpPr>
        <p:spPr>
          <a:xfrm>
            <a:off x="4114800" y="2081328"/>
            <a:ext cx="4457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</a:rPr>
              <a:t>db_utils.py: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</a:rPr>
              <a:t> conexión PostgreSQL y helpers CRUD. </a:t>
            </a:r>
            <a:r>
              <a:rPr lang="en-US" sz="950" b="1" dirty="0">
                <a:solidFill>
                  <a:srgbClr val="4B5563"/>
                </a:solidFill>
                <a:latin typeface="Calibri" pitchFamily="34" charset="0"/>
              </a:rPr>
              <a:t>metrics_exporter.py: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</a:rPr>
              <a:t> push de métricas a Prometheus Pushgateway.</a:t>
            </a:r>
          </a:p>
        </p:txBody>
      </p:sp>
      <p:sp>
        <p:nvSpPr>
          <p:cNvPr id="80" name="Card3Bg"/>
          <p:cNvSpPr/>
          <p:nvPr/>
        </p:nvSpPr>
        <p:spPr>
          <a:xfrm>
            <a:off x="3886200" y="2697480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Card3Bar"/>
          <p:cNvSpPr/>
          <p:nvPr/>
        </p:nvSpPr>
        <p:spPr>
          <a:xfrm>
            <a:off x="3886200" y="26974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Card3Badge"/>
          <p:cNvSpPr/>
          <p:nvPr/>
        </p:nvSpPr>
        <p:spPr>
          <a:xfrm>
            <a:off x="4114800" y="2743200"/>
            <a:ext cx="914400" cy="2286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Card3BadgeTxt"/>
          <p:cNvSpPr/>
          <p:nvPr/>
        </p:nvSpPr>
        <p:spPr>
          <a:xfrm>
            <a:off x="411480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INFRA</a:t>
            </a:r>
          </a:p>
        </p:txBody>
      </p:sp>
      <p:sp>
        <p:nvSpPr>
          <p:cNvPr id="84" name="Card3Title"/>
          <p:cNvSpPr/>
          <p:nvPr/>
        </p:nvSpPr>
        <p:spPr>
          <a:xfrm>
            <a:off x="5143500" y="2721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Infraestructura como código</a:t>
            </a:r>
          </a:p>
        </p:txBody>
      </p:sp>
      <p:sp>
        <p:nvSpPr>
          <p:cNvPr id="85" name="Card3Desc"/>
          <p:cNvSpPr/>
          <p:nvPr/>
        </p:nvSpPr>
        <p:spPr>
          <a:xfrm>
            <a:off x="4114800" y="2995728"/>
            <a:ext cx="4457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</a:rPr>
              <a:t>Docker Compose con 10 servicios. Dockerfile custom con dependencias ML. Volumenes montados para hot-reload de scripts.</a:t>
            </a:r>
          </a:p>
        </p:txBody>
      </p:sp>
      <p:sp>
        <p:nvSpPr>
          <p:cNvPr id="90" name="Card4Bg"/>
          <p:cNvSpPr/>
          <p:nvPr/>
        </p:nvSpPr>
        <p:spPr>
          <a:xfrm>
            <a:off x="3886200" y="3611880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Card4Bar"/>
          <p:cNvSpPr/>
          <p:nvPr/>
        </p:nvSpPr>
        <p:spPr>
          <a:xfrm>
            <a:off x="3886200" y="361188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Card4Badge"/>
          <p:cNvSpPr/>
          <p:nvPr/>
        </p:nvSpPr>
        <p:spPr>
          <a:xfrm>
            <a:off x="4114800" y="3657600"/>
            <a:ext cx="914400" cy="22860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Card4BadgeTxt"/>
          <p:cNvSpPr/>
          <p:nvPr/>
        </p:nvSpPr>
        <p:spPr>
          <a:xfrm>
            <a:off x="411480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DESIGN</a:t>
            </a:r>
          </a:p>
        </p:txBody>
      </p:sp>
      <p:sp>
        <p:nvSpPr>
          <p:cNvPr id="94" name="Card4Title"/>
          <p:cNvSpPr/>
          <p:nvPr/>
        </p:nvSpPr>
        <p:spPr>
          <a:xfrm>
            <a:off x="5143500" y="3635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Pickle auto-contenido + fallbacks</a:t>
            </a:r>
          </a:p>
        </p:txBody>
      </p:sp>
      <p:sp>
        <p:nvSpPr>
          <p:cNvPr id="95" name="Card4Desc"/>
          <p:cNvSpPr/>
          <p:nvPr/>
        </p:nvSpPr>
        <p:spPr>
          <a:xfrm>
            <a:off x="4114800" y="3910128"/>
            <a:ext cx="4457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</a:rPr>
              <a:t>El pickle incluye modelo + encoders + imputer + scaler. Cada extension (DB, MLflow, Prometheus) tiene fallback graceful si no esta disponible.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Airflow: DAG de 3 Tasks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data_preparation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peculiaridades, feature engineering, encoding, split 70/15/15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972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972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~16s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19456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832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entrenamiento, evaluación en val set, guardado como pickle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0690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40690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9456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3258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550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evaluate_model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550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pickle, predicciones en holdout, métricas en logs, JSON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0408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8"/>
          <p:cNvSpPr/>
          <p:nvPr/>
        </p:nvSpPr>
        <p:spPr>
          <a:xfrm>
            <a:off x="70408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0"/>
          <p:cNvSpPr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</a:rPr>
              <a:t>PythonOperator</a:t>
            </a:r>
            <a:r>
              <a:rPr lang="en-US" sz="1100" dirty="0">
                <a:solidFill>
                  <a:srgbClr val="4B5563"/>
                </a:solidFill>
              </a:rPr>
              <a:t> — cada task importa y ejecuta la función main() del script correspondiente. Si un paso falla, el DAG se detiene.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Docker Compose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churn_db + mlflow_db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en :8080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:3000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5800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2.12.2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:5000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28346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servicios Docker: Airflow (webserver, scheduler, triggerer, init), 3x PostgreSQL, MLflow, Pushgateway, Prometheus, Grafana.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Imagen custom con xgboost, sklearn, mlflow, etc. via Dockerfile + requirements.txt.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Monitoring stack: evaluate_model exporta métricas al Pushgateway, Prometheus las scrapea, Grafana las visualiza.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Volumenes montados: scripts/, data/, models/ y monitoring/ para desarrollo iterativo.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clave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airflow-init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Airflow :8080 | MLflow :5000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Grafana :3000 | Prometheus :9090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Evidencia: Orquestación y Experiment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078D4"/>
                </a:solidFill>
                <a:latin typeface="Calibri"/>
              </a:rPr>
              <a:t>sdg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Calibri"/>
              </a:rPr>
              <a:t>Copyright © SDG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Apache Airflow — DAG con 10 runs exitosos</a:t>
            </a:r>
          </a:p>
        </p:txBody>
      </p:sp>
      <p:pic>
        <p:nvPicPr>
          <p:cNvPr id="7" name="Picture 6" descr="airflow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0000"/>
            <a:ext cx="4000000" cy="21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0000" y="8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MLflow 2.12.2 — Run completado con métricas</a:t>
            </a:r>
          </a:p>
        </p:txBody>
      </p:sp>
      <p:pic>
        <p:nvPicPr>
          <p:cNvPr id="9" name="Picture 8" descr="mlflow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1150000"/>
            <a:ext cx="4000000" cy="21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400000"/>
            <a:ext cx="82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Airflow ejecuta el DAG de 3 tasks (data_preparation → train_model → evaluate_model) en ~1 min 21s. MLflow registra automáticamente 41 hiperparámetros y 4 métricas de validación (val_auc_roc=0.6913, val_f1=0.6376). Cada run queda versionado para comparación futura.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Evidencia: Monitoreo con Prometheus y Grafana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078D4"/>
                </a:solidFill>
                <a:latin typeface="Calibri"/>
              </a:rPr>
              <a:t>sdg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Calibri"/>
              </a:rPr>
              <a:t>Copyright © SDG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Grafana — Dashboard Churn Prediction Pipeline</a:t>
            </a:r>
          </a:p>
        </p:txBody>
      </p:sp>
      <p:pic>
        <p:nvPicPr>
          <p:cNvPr id="7" name="Picture 6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0000"/>
            <a:ext cx="5400000" cy="28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0000" y="860000"/>
            <a:ext cx="2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Prometheus — Métricas en tiempo real</a:t>
            </a:r>
          </a:p>
        </p:txBody>
      </p:sp>
      <p:pic>
        <p:nvPicPr>
          <p:cNvPr id="9" name="Picture 8" descr="prometheus_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1150000"/>
            <a:ext cx="2700000" cy="13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00000" y="2550000"/>
            <a:ext cx="27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El pipeline exporta métricas al Pushgateway tras cada ejecución. Prometheus las scrapea cada 15s. El dashboard muestra AUC-ROC, F1, confusion matrix, lift por percentil y datos del pipeline en tiempo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0000"/>
            <a:ext cx="82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Calibri"/>
              </a:rPr>
              <a:t>Stack completo: evaluate_model.py → metrics_exporter.py → Pushgateway (:9091) → Prometheus (:9090) → Grafana (:3000)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limitaciones y siguientes pasos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Siguientes Pasos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hemos construido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201168" cy="20116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0116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nuevas con lógica de negocio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37744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tuneado: AUC 0.70, Lift 1.59x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27432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para explicabilidad por cliente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2688" y="31089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Airflow + Docker (10 servicios)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32688" y="3474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MLflow: persistencia y tracking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201168" cy="201168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4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Feature store para centralizar features reutilizables entre modelos.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A/B testing para validar impacto real de las campañas de retención.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Datos reales desbalanceados: adaptar con SMOTE/class_weight (~2%).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Alertas automáticas en Grafana (umbrales de AUC, drift detection).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CI/CD para reentrenamiento automatico con datos frescos.</a:t>
            </a:r>
            <a:endParaRPr lang="en-US" sz="1050" dirty="0"/>
          </a:p>
        </p:txBody>
      </p:sp>
      <p:sp>
        <p:nvSpPr>
          <p:cNvPr id="50" name="Text 49"/>
          <p:cNvSpPr/>
          <p:nvPr/>
        </p:nvSpPr>
        <p:spPr>
          <a:xfrm>
            <a:off x="932688" y="38404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Grafana: monitoreo en vivo</a:t>
            </a:r>
            <a:endParaRPr lang="en-US" sz="1100" dirty="0"/>
          </a:p>
        </p:txBody>
      </p:sp>
      <p:pic>
        <p:nvPicPr>
          <p:cNvPr id="51" name="Picture 5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2688" y="1645920"/>
            <a:ext cx="33832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4B5563"/>
                </a:solidFill>
                <a:latin typeface="Calibri"/>
              </a:rPr>
              <a:t>EDA profundo + 13 peculiaridades detectadas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Respuestas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Montero  |  ma2montero@gmail.com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2527</Words>
  <Application>Microsoft Office PowerPoint</Application>
  <PresentationFormat>Presentación en pantalla (16:9)</PresentationFormat>
  <Paragraphs>436</Paragraphs>
  <Slides>28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Prediction — Prueba Tecnica SDG Group</dc:title>
  <dc:subject>PptxGenJS Presentation</dc:subject>
  <dc:creator>Tomas Montero</dc:creator>
  <cp:lastModifiedBy>Office 211 Spain</cp:lastModifiedBy>
  <cp:revision>2</cp:revision>
  <dcterms:created xsi:type="dcterms:W3CDTF">2026-04-22T22:06:21Z</dcterms:created>
  <dcterms:modified xsi:type="dcterms:W3CDTF">2026-04-27T09:47:09Z</dcterms:modified>
</cp:coreProperties>
</file>