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AUC-ROC</c:v>
                </c:pt>
              </c:strCache>
            </c:strRef>
          </c:tx>
          <c:spPr>
            <a:solidFill>
              <a:srgbClr val="2E86A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Logistic Reg.</c:v>
                  </c:pt>
                  <c:pt idx="1">
                    <c:v>Decision Tree</c:v>
                  </c:pt>
                  <c:pt idx="2">
                    <c:v>Random Forest</c:v>
                  </c:pt>
                  <c:pt idx="3">
                    <c:v>LightGBM</c:v>
                  </c:pt>
                  <c:pt idx="4">
                    <c:v>XGBoost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0.626</c:v>
                </c:pt>
                <c:pt idx="1">
                  <c:v>0.638</c:v>
                </c:pt>
                <c:pt idx="2">
                  <c:v>0.671</c:v>
                </c:pt>
                <c:pt idx="3">
                  <c:v>0.694</c:v>
                </c:pt>
                <c:pt idx="4">
                  <c:v>0.694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.5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293B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E293B"/>
                </a:solidFill>
                <a:latin typeface="Arial"/>
              </a:rPr>
              <a:t>Lift vs % de clientes contactados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Modelo</c:v>
                </c:pt>
              </c:strCache>
            </c:strRef>
          </c:tx>
          <c:spPr>
            <a:solidFill>
              <a:srgbClr val="2E86AB"/>
            </a:solidFill>
            <a:ln w="38100" cap="flat">
              <a:solidFill>
                <a:srgbClr val="2E86A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86AB"/>
              </a:solidFill>
              <a:ln w="9525" cap="flat">
                <a:solidFill>
                  <a:srgbClr val="2E86A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5%</c:v>
                  </c:pt>
                  <c:pt idx="1">
                    <c:v>10%</c:v>
                  </c:pt>
                  <c:pt idx="2">
                    <c:v>15%</c:v>
                  </c:pt>
                  <c:pt idx="3">
                    <c:v>20%</c:v>
                  </c:pt>
                  <c:pt idx="4">
                    <c:v>25%</c:v>
                  </c:pt>
                  <c:pt idx="5">
                    <c:v>30%</c:v>
                  </c:pt>
                  <c:pt idx="6">
                    <c:v>40%</c:v>
                  </c:pt>
                  <c:pt idx="7">
                    <c:v>50%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1.72</c:v>
                </c:pt>
                <c:pt idx="1">
                  <c:v>1.62</c:v>
                </c:pt>
                <c:pt idx="2">
                  <c:v>1.55</c:v>
                </c:pt>
                <c:pt idx="3">
                  <c:v>1.5</c:v>
                </c:pt>
                <c:pt idx="4">
                  <c:v>1.45</c:v>
                </c:pt>
                <c:pt idx="5">
                  <c:v>1.4</c:v>
                </c:pt>
                <c:pt idx="6">
                  <c:v>1.32</c:v>
                </c:pt>
                <c:pt idx="7">
                  <c:v>1.25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Aleatorio</c:v>
                </c:pt>
              </c:strCache>
            </c:strRef>
          </c:tx>
          <c:spPr>
            <a:solidFill>
              <a:srgbClr val="94A3B8"/>
            </a:solidFill>
            <a:ln w="38100" cap="flat">
              <a:solidFill>
                <a:srgbClr val="94A3B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4A3B8"/>
              </a:solidFill>
              <a:ln w="9525" cap="flat">
                <a:solidFill>
                  <a:srgbClr val="94A3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5%</c:v>
                  </c:pt>
                  <c:pt idx="1">
                    <c:v>10%</c:v>
                  </c:pt>
                  <c:pt idx="2">
                    <c:v>15%</c:v>
                  </c:pt>
                  <c:pt idx="3">
                    <c:v>20%</c:v>
                  </c:pt>
                  <c:pt idx="4">
                    <c:v>25%</c:v>
                  </c:pt>
                  <c:pt idx="5">
                    <c:v>30%</c:v>
                  </c:pt>
                  <c:pt idx="6">
                    <c:v>40%</c:v>
                  </c:pt>
                  <c:pt idx="7">
                    <c:v>50%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.8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E872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6340"/>
            <a:ext cx="9144000" cy="137160"/>
          </a:xfrm>
          <a:prstGeom prst="rect">
            <a:avLst/>
          </a:prstGeom>
          <a:solidFill>
            <a:srgbClr val="E8720C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731520"/>
            <a:ext cx="7680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Prediccion de Churn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Telecomunicaciones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31520" y="2743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72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Tecnica — SDG Group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35661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Tomas Montero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9319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72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71600" y="13716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problema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16276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en telecomunicaciones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9659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72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9659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exploratorio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22219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EDA, trampas detectadas, feature engineering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560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72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5603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predictivo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28163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Seleccion, tuning, metricas, SHAP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3154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72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71600" y="31546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negocio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34107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curve, recomendaciones, threshold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72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37490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del pipeline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4005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Scripts, Airflow DAG, Docker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4343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72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43434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siguientes pasos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371600" y="45994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371600"/>
            <a:ext cx="54864" cy="2286000"/>
          </a:xfrm>
          <a:prstGeom prst="rect">
            <a:avLst/>
          </a:prstGeom>
          <a:solidFill>
            <a:srgbClr val="E8720C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3716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2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9202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Contexto del Problema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05840" y="283464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Entendiendo el churn en telecomunicaciones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4592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Problema: Churn en Telecomunicaciones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Prediction Pipeline — Prueba Técnica SDG Group — Tomas Montero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" y="105156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</a:rPr>
              <a:t>Captar un nuevo cliente cuesta 5-7x mas que retener uno existente.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En telecomunicaciones, el churn mensual tipico oscila entre el 1-3%. Identificar clientes en riesgo ANTES de que se vayan permite intervenir con ofertas de retencion dirigidas.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Objetivo: construir un modelo predictivo que identifique a los clientes con mayor probabilidad de abandonar, permitiendo priorizar acciones de retencion.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0" y="1097280"/>
            <a:ext cx="365760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029200" y="1097280"/>
            <a:ext cx="73152" cy="91440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0" name="Text 7"/>
          <p:cNvSpPr/>
          <p:nvPr/>
        </p:nvSpPr>
        <p:spPr>
          <a:xfrm>
            <a:off x="5303520" y="117043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100K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5303520" y="1600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en el dataset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0" y="2194560"/>
            <a:ext cx="365760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029200" y="2194560"/>
            <a:ext cx="73152" cy="9144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4" name="Text 11"/>
          <p:cNvSpPr/>
          <p:nvPr/>
        </p:nvSpPr>
        <p:spPr>
          <a:xfrm>
            <a:off x="5303520" y="226771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5303520" y="2697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originales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0" y="3291840"/>
            <a:ext cx="365760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029200" y="3291840"/>
            <a:ext cx="73152" cy="914400"/>
          </a:xfrm>
          <a:prstGeom prst="rect">
            <a:avLst/>
          </a:prstGeom>
          <a:solidFill>
            <a:srgbClr val="E8720C"/>
          </a:solidFill>
          <a:ln/>
        </p:spPr>
      </p:sp>
      <p:sp>
        <p:nvSpPr>
          <p:cNvPr id="18" name="Text 15"/>
          <p:cNvSpPr/>
          <p:nvPr/>
        </p:nvSpPr>
        <p:spPr>
          <a:xfrm>
            <a:off x="5303520" y="336499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72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50/50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5303520" y="3794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churn/no-churn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371600"/>
            <a:ext cx="54864" cy="2286000"/>
          </a:xfrm>
          <a:prstGeom prst="rect">
            <a:avLst/>
          </a:prstGeom>
          <a:solidFill>
            <a:srgbClr val="E8720C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3716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2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9202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Analisis Exploratorio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05840" y="283464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clave, trampas y feature engineering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4592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EDA: Hallazgos Principales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Prediction Pipeline — Prueba Técnica SDG Group — Tomas Montero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57200" y="1051560"/>
            <a:ext cx="40233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320040" cy="320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97280" y="1188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artificial 50/50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40080" y="16002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dataset esta balanceado artificialmente. Poco realista (churn real ~1-3%), pero elimina la necesidad de tecnicas de oversampling.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754880" y="1051560"/>
            <a:ext cx="40233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23444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394960" y="1188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camuflados ('U', 'Z')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4937760" y="16002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columnas kid0_2 a kid16_17 usan 'U' como null (&gt;90%). Otros campos usan 'Z'. Reemplazados por NaN antes de cualquier analisis.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2834640"/>
            <a:ext cx="40233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0175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97280" y="2971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Multicolinealidad extrema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640080" y="33832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Pares de variables con correlacion r=1.000 (p.ej. rev_Mean/totrev). Eliminamos la de menor correlacion con churn (umbral: r&gt;0.98).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4754880" y="2834640"/>
            <a:ext cx="40233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30175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5394960" y="2971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negativos en eqpdays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4937760" y="33832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 de antiguedad del equipo con valores negativos (fisicamente imposible). Convertidos a NaN e imputados con la mediana.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4592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Trampas Detectadas en el Dataset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Prediction Pipeline — Prueba Técnica SDG Group — Tomas Montero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57200" y="1005840"/>
            <a:ext cx="822960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005840"/>
            <a:ext cx="54864" cy="5943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Shape 6"/>
          <p:cNvSpPr/>
          <p:nvPr/>
        </p:nvSpPr>
        <p:spPr>
          <a:xfrm>
            <a:off x="685800" y="1161288"/>
            <a:ext cx="86868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7"/>
          <p:cNvSpPr/>
          <p:nvPr/>
        </p:nvSpPr>
        <p:spPr>
          <a:xfrm>
            <a:off x="685800" y="116128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691640" y="10424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Customer_ID ordenado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691640" y="129844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correlacionados con churn. No se usa como feature para evitar data leakage.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" y="1719072"/>
            <a:ext cx="822960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" y="1719072"/>
            <a:ext cx="54864" cy="59436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5" name="Shape 12"/>
          <p:cNvSpPr/>
          <p:nvPr/>
        </p:nvSpPr>
        <p:spPr>
          <a:xfrm>
            <a:off x="685800" y="1874520"/>
            <a:ext cx="868680" cy="2743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6" name="Text 13"/>
          <p:cNvSpPr/>
          <p:nvPr/>
        </p:nvSpPr>
        <p:spPr>
          <a:xfrm>
            <a:off x="685800" y="18745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691640" y="17556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Varianza casi nula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691640" y="201168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con &gt;99% del mismo valor eliminadas: no aportan informacion discriminativa.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57200" y="2432304"/>
            <a:ext cx="822960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57200" y="2432304"/>
            <a:ext cx="54864" cy="59436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21" name="Shape 18"/>
          <p:cNvSpPr/>
          <p:nvPr/>
        </p:nvSpPr>
        <p:spPr>
          <a:xfrm>
            <a:off x="685800" y="2587752"/>
            <a:ext cx="868680" cy="2743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22" name="Text 19"/>
          <p:cNvSpPr/>
          <p:nvPr/>
        </p:nvSpPr>
        <p:spPr>
          <a:xfrm>
            <a:off x="685800" y="258775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169164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Dummies sin senal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691640" y="272491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Binarias con churn rate identico en 0 y 1 (diferencia &lt; 1%). Eliminadas.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57200" y="3145536"/>
            <a:ext cx="822960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7200" y="3145536"/>
            <a:ext cx="54864" cy="59436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7" name="Shape 24"/>
          <p:cNvSpPr/>
          <p:nvPr/>
        </p:nvSpPr>
        <p:spPr>
          <a:xfrm>
            <a:off x="685800" y="3300984"/>
            <a:ext cx="868680" cy="2743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8" name="Text 25"/>
          <p:cNvSpPr/>
          <p:nvPr/>
        </p:nvSpPr>
        <p:spPr>
          <a:xfrm>
            <a:off x="685800" y="33009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VALIDADA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1691640" y="31821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change_mou: leakage?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691640" y="343814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de uso sospechoso. Estudio de ablacion confirmo que NO es leakage (delta AUC &lt; 5 pp).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57200" y="3858768"/>
            <a:ext cx="822960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457200" y="3858768"/>
            <a:ext cx="54864" cy="594360"/>
          </a:xfrm>
          <a:prstGeom prst="rect">
            <a:avLst/>
          </a:prstGeom>
          <a:solidFill>
            <a:srgbClr val="E8720C"/>
          </a:solidFill>
          <a:ln/>
        </p:spPr>
      </p:sp>
      <p:sp>
        <p:nvSpPr>
          <p:cNvPr id="33" name="Shape 30"/>
          <p:cNvSpPr/>
          <p:nvPr/>
        </p:nvSpPr>
        <p:spPr>
          <a:xfrm>
            <a:off x="685800" y="4014216"/>
            <a:ext cx="868680" cy="274320"/>
          </a:xfrm>
          <a:prstGeom prst="rect">
            <a:avLst/>
          </a:prstGeom>
          <a:solidFill>
            <a:srgbClr val="E8720C"/>
          </a:solidFill>
          <a:ln/>
        </p:spPr>
      </p:sp>
      <p:sp>
        <p:nvSpPr>
          <p:cNvPr id="34" name="Text 31"/>
          <p:cNvSpPr/>
          <p:nvPr/>
        </p:nvSpPr>
        <p:spPr>
          <a:xfrm>
            <a:off x="685800" y="40142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1691640" y="38953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&gt;85% nulos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1691640" y="415137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Eliminadas directamente. Imputar mas del 85% seria inventar datos.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4592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Engineering: 8 Variables Nuevas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Prediction Pipeline — Prueba Técnica SDG Group — Tomas Montero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" y="10058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651760" y="1005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1005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1371600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594360" y="13716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rev_per_minute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2651760" y="137160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 por minuto de uso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669280" y="137160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rev_Mean / mou_Mean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" y="1773936"/>
            <a:ext cx="8229600" cy="402336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6" name="Text 13"/>
          <p:cNvSpPr/>
          <p:nvPr/>
        </p:nvSpPr>
        <p:spPr>
          <a:xfrm>
            <a:off x="594360" y="177393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call_fail_rate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651760" y="177393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fallos de llamadas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5669280" y="177393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(drop + blck) / intentos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7200" y="2176272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7"/>
          <p:cNvSpPr/>
          <p:nvPr/>
        </p:nvSpPr>
        <p:spPr>
          <a:xfrm>
            <a:off x="594360" y="217627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care_intensity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2651760" y="217627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Intensidad de contacto soporte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669280" y="217627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custcare / mou_Mean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7200" y="2578608"/>
            <a:ext cx="8229600" cy="402336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4" name="Text 21"/>
          <p:cNvSpPr/>
          <p:nvPr/>
        </p:nvSpPr>
        <p:spPr>
          <a:xfrm>
            <a:off x="594360" y="257860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old_device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2651760" y="257860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antiguo (&gt;1 ano)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5669280" y="257860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eqpdays &gt; 365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57200" y="2980944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5"/>
          <p:cNvSpPr/>
          <p:nvPr/>
        </p:nvSpPr>
        <p:spPr>
          <a:xfrm>
            <a:off x="594360" y="2980944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usage_drop_severe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2651760" y="298094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Caida severa de uso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5669280" y="298094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change_mou &lt; -50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457200" y="3383280"/>
            <a:ext cx="8229600" cy="402336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2" name="Text 29"/>
          <p:cNvSpPr/>
          <p:nvPr/>
        </p:nvSpPr>
        <p:spPr>
          <a:xfrm>
            <a:off x="594360" y="338328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rev_vs_avg3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2651760" y="338328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Facturacion vs media historica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5669280" y="338328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rev_Mean / avg3rev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57200" y="3785616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3"/>
          <p:cNvSpPr/>
          <p:nvPr/>
        </p:nvSpPr>
        <p:spPr>
          <a:xfrm>
            <a:off x="594360" y="378561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new_customer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2651760" y="378561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nuevo (&lt; 6 meses)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669280" y="378561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months &lt;= 6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457200" y="4187952"/>
            <a:ext cx="8229600" cy="402336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0" name="Text 37"/>
          <p:cNvSpPr/>
          <p:nvPr/>
        </p:nvSpPr>
        <p:spPr>
          <a:xfrm>
            <a:off x="594360" y="418795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engagement_score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2651760" y="418795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engagement compuesto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5669280" y="418795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rank(mou + comp + recv) / 3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Criterio: variables interpretables para el negocio, derivadas de patrones encontrados en el EDA.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371600"/>
            <a:ext cx="54864" cy="2286000"/>
          </a:xfrm>
          <a:prstGeom prst="rect">
            <a:avLst/>
          </a:prstGeom>
          <a:solidFill>
            <a:srgbClr val="E8720C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3716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2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9202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Modelo Predictivo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05840" y="283464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Seleccion, entrenamiento, evaluacion e interpretabilidad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4592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de Preprocesamiento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Prediction Pipeline — Prueba Técnica SDG Group — Tomas Montero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274320" y="1371600"/>
            <a:ext cx="155448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1508760"/>
            <a:ext cx="457200" cy="45720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365760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de trampas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365760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camuflados, negativos, multicolinealidad, varianza nula</a:t>
            </a:r>
            <a:endParaRPr lang="en-US" sz="9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0" y="2148840"/>
            <a:ext cx="137160" cy="13716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029968" y="1371600"/>
            <a:ext cx="155448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2578608" y="1508760"/>
            <a:ext cx="457200" cy="45720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5" name="Text 11"/>
          <p:cNvSpPr/>
          <p:nvPr/>
        </p:nvSpPr>
        <p:spPr>
          <a:xfrm>
            <a:off x="2578608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2121408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2121408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variables nuevas con logica de negocio</a:t>
            </a:r>
            <a:endParaRPr lang="en-US" sz="95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0168" y="2148840"/>
            <a:ext cx="137160" cy="13716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3785616" y="1371600"/>
            <a:ext cx="155448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334256" y="1508760"/>
            <a:ext cx="457200" cy="45720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1" name="Text 16"/>
          <p:cNvSpPr/>
          <p:nvPr/>
        </p:nvSpPr>
        <p:spPr>
          <a:xfrm>
            <a:off x="433425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3877056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LabelEncoder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3877056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Categoricas convertidas a numerico</a:t>
            </a:r>
            <a:endParaRPr lang="en-US" sz="9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5816" y="2148840"/>
            <a:ext cx="137160" cy="13716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5541264" y="1371600"/>
            <a:ext cx="155448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6089904" y="1508760"/>
            <a:ext cx="457200" cy="45720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7" name="Text 21"/>
          <p:cNvSpPr/>
          <p:nvPr/>
        </p:nvSpPr>
        <p:spPr>
          <a:xfrm>
            <a:off x="6089904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5632704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Imputacion mediana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5632704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numericos rellenados con la mediana</a:t>
            </a:r>
            <a:endParaRPr lang="en-US" sz="950" dirty="0"/>
          </a:p>
        </p:txBody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1464" y="2148840"/>
            <a:ext cx="137160" cy="137160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7296912" y="1371600"/>
            <a:ext cx="155448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7845552" y="1508760"/>
            <a:ext cx="457200" cy="457200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33" name="Text 26"/>
          <p:cNvSpPr/>
          <p:nvPr/>
        </p:nvSpPr>
        <p:spPr>
          <a:xfrm>
            <a:off x="7845552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27"/>
          <p:cNvSpPr/>
          <p:nvPr/>
        </p:nvSpPr>
        <p:spPr>
          <a:xfrm>
            <a:off x="7388352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70/15/15</a:t>
            </a:r>
            <a:endParaRPr lang="en-US" sz="1100" dirty="0"/>
          </a:p>
        </p:txBody>
      </p:sp>
      <p:sp>
        <p:nvSpPr>
          <p:cNvPr id="35" name="Text 28"/>
          <p:cNvSpPr/>
          <p:nvPr/>
        </p:nvSpPr>
        <p:spPr>
          <a:xfrm>
            <a:off x="7388352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Validation / Test estratificado</a:t>
            </a:r>
            <a:endParaRPr lang="en-US" sz="950" dirty="0"/>
          </a:p>
        </p:txBody>
      </p:sp>
      <p:sp>
        <p:nvSpPr>
          <p:cNvPr id="36" name="Text 29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100K filas x 88 columnas limpias, sin leakage, listas para modelar.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4592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Benchmarking: 5 Modelos Evaluados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Prediction Pipeline — Prueba Técnica SDG Group — Tomas Montero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00584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5760720" y="1005840"/>
            <a:ext cx="30175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760720" y="1005840"/>
            <a:ext cx="54864" cy="3474720"/>
          </a:xfrm>
          <a:prstGeom prst="rect">
            <a:avLst/>
          </a:prstGeom>
          <a:solidFill>
            <a:srgbClr val="E8720C"/>
          </a:solidFill>
          <a:ln/>
        </p:spPr>
      </p:sp>
      <p:sp>
        <p:nvSpPr>
          <p:cNvPr id="10" name="Text 6"/>
          <p:cNvSpPr/>
          <p:nvPr/>
        </p:nvSpPr>
        <p:spPr>
          <a:xfrm>
            <a:off x="5989320" y="11430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XGBoost?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989320" y="1554480"/>
            <a:ext cx="2651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Empata con LightGBM en AUC-ROC (0.694) pero ofrece: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</a:rPr>
              <a:t>Regularizacion L1/L2 nativa que controla overfitting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</a:rPr>
              <a:t>Mejor soporte de SHAP (TreeExplainer optimizado)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</a:rPr>
              <a:t>Ecosistema maduro y well-documented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</a:rPr>
              <a:t>Tuning mas controlable via scale_pos_weight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</a:rPr>
              <a:t>Logistic Regression se mantiene como baseline interpretable.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4592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Hyperparameter Tuning: RandomizedSearchCV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Prediction Pipeline — Prueba Técnica SDG Group — Tomas Montero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57200" y="1051560"/>
            <a:ext cx="402336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0080" y="1143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554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286000" y="1554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RandomizedSearchCV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Iteraciones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286000" y="18288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286000" y="2103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3-fold estratificado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080" y="23774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Metrica objetivo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28600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AUC-ROC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26517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286000" y="2651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[4, 5, 6, 7, 8]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40080" y="2926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learning_rate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2286000" y="2926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[0.01, 0.05, 0.1, 0.15]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40080" y="3200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286000" y="3200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[200, 300, 500]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40080" y="3474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subsample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2286000" y="3474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[0.7, 0.8, 0.9]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40080" y="37490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colsample_bytree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2286000" y="3749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[0.6, 0.7, 0.8, 0.9]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40080" y="4023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reg_alpha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2286000" y="4023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[0, 0.01, 0.1, 0.5]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40080" y="4297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reg_lambda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2286000" y="4297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[0.5, 1.0, 2.0, 5.0]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4754880" y="1051560"/>
            <a:ext cx="393192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4937760" y="11430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esta configuracion?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4937760" y="155448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RandomizedSearch vs GridSearch: con 11 hiperparametros, el grid completo seria intratable. 30 iteraciones aleatorias cubren el espacio de forma eficiente.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3-fold: equilibrio entre robustez estadistica y tiempo de computo. Con 100K filas, cada fold tiene ~67K muestras.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AUC-ROC como metrica: es threshold-independent, lo que permite optimizar sin comprometerse a un punto de corte fijo.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Regularizacion (alpha, lambda): controla overfitting en un dataset con 88 features.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4592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Metricas Finales en Test Set (Holdout)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Prediction Pipeline — Prueba Técnica SDG Group — Tomas Montero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65760" y="1051560"/>
            <a:ext cx="1965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051560"/>
            <a:ext cx="1965960" cy="54864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9" name="Text 6"/>
          <p:cNvSpPr/>
          <p:nvPr/>
        </p:nvSpPr>
        <p:spPr>
          <a:xfrm>
            <a:off x="365760" y="12344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0.7023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365760" y="19202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514600" y="1051560"/>
            <a:ext cx="1965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514600" y="1051560"/>
            <a:ext cx="196596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3" name="Text 10"/>
          <p:cNvSpPr/>
          <p:nvPr/>
        </p:nvSpPr>
        <p:spPr>
          <a:xfrm>
            <a:off x="2514600" y="12344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0.6448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2514600" y="19202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051560"/>
            <a:ext cx="1965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663440" y="1051560"/>
            <a:ext cx="196596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7" name="Text 14"/>
          <p:cNvSpPr/>
          <p:nvPr/>
        </p:nvSpPr>
        <p:spPr>
          <a:xfrm>
            <a:off x="4663440" y="12344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0.6476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4663440" y="19202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812280" y="1051560"/>
            <a:ext cx="1965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812280" y="1051560"/>
            <a:ext cx="1965960" cy="54864"/>
          </a:xfrm>
          <a:prstGeom prst="rect">
            <a:avLst/>
          </a:prstGeom>
          <a:solidFill>
            <a:srgbClr val="E8720C"/>
          </a:solidFill>
          <a:ln/>
        </p:spPr>
      </p:sp>
      <p:sp>
        <p:nvSpPr>
          <p:cNvPr id="21" name="Text 18"/>
          <p:cNvSpPr/>
          <p:nvPr/>
        </p:nvSpPr>
        <p:spPr>
          <a:xfrm>
            <a:off x="6812280" y="12344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72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0.6420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6812280" y="19202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57200" y="2606040"/>
            <a:ext cx="4114800" cy="1874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640080" y="2697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063240"/>
          <a:ext cx="3657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13716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75569"/>
                          </a:solidFill>
                        </a:rPr>
                        <a:t>Pred: No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75569"/>
                          </a:solidFill>
                        </a:rPr>
                        <a:t>Pred: Si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75569"/>
                          </a:solidFill>
                        </a:rPr>
                        <a:t>Real: No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</a:rPr>
                        <a:t>4,718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</a:rPr>
                        <a:t>2,782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75569"/>
                          </a:solidFill>
                        </a:rPr>
                        <a:t>Real: Si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</a:rPr>
                        <a:t>2,644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</a:rPr>
                        <a:t>4,856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4846320" y="2606040"/>
            <a:ext cx="3840480" cy="1874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7" name="Text 23"/>
          <p:cNvSpPr/>
          <p:nvPr/>
        </p:nvSpPr>
        <p:spPr>
          <a:xfrm>
            <a:off x="5029200" y="26974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Interpretacion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5029200" y="306324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AUC 0.70 indica capacidad discriminativa moderada-buena. Dado un dataset con 100 features ruidosas y trampas, es un resultado solido.</a:t>
            </a:r>
            <a:endParaRPr lang="en-US" sz="10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Recall 64.8%: de cada 100 churners reales, identificamos 65. </a:t>
            </a:r>
            <a:endParaRPr lang="en-US" sz="10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</a:rPr>
              <a:t>El threshold de 0.50 se puede ajustar segun el coste de FP vs FN del negocio.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4592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Entendiendo las Metricas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Prediction Pipeline — Prueba Técnica SDG Group — Tomas Montero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57200" y="1005840"/>
            <a:ext cx="822960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005840"/>
            <a:ext cx="54864" cy="74980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10789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2011680" y="10515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bajo la curva ROC. Mide la capacidad del modelo de separar las dos clases independientemente del threshold.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2011680" y="138988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metrica principal porque no depende de un punto de corte arbitrario.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874520"/>
            <a:ext cx="822960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7200" y="1874520"/>
            <a:ext cx="54864" cy="74980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4" name="Text 11"/>
          <p:cNvSpPr/>
          <p:nvPr/>
        </p:nvSpPr>
        <p:spPr>
          <a:xfrm>
            <a:off x="685800" y="19476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011680" y="192024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que predecimos como churn, que % realmente lo son.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2011680" y="225856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precision = menos falsos positivos = menos gasto en retencion de clientes que no iban a irse.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57200" y="2743200"/>
            <a:ext cx="822960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57200" y="2743200"/>
            <a:ext cx="54864" cy="74980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9" name="Text 16"/>
          <p:cNvSpPr/>
          <p:nvPr/>
        </p:nvSpPr>
        <p:spPr>
          <a:xfrm>
            <a:off x="685800" y="28163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2011680" y="278892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churners reales, que % identificamos.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2011680" y="312724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recall = detectamos mas churners = menos ingresos perdidos por clientes no identificados.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57200" y="3611880"/>
            <a:ext cx="822960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57200" y="3611880"/>
            <a:ext cx="54864" cy="74980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24" name="Text 21"/>
          <p:cNvSpPr/>
          <p:nvPr/>
        </p:nvSpPr>
        <p:spPr>
          <a:xfrm>
            <a:off x="685800" y="36850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2011680" y="365760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armonica de Precision y Recall.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2011680" y="399592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Equilibra ambas metricas. Util cuando el coste de FP y FN es similar.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4592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SHAP: Interpretabilidad del Modelo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Prediction Pipeline — Prueba Técnica SDG Group — Tomas Montero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57200" y="1005840"/>
            <a:ext cx="43891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0080" y="10972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Features (SHAP Values)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1554480"/>
            <a:ext cx="3200400" cy="182880"/>
          </a:xfrm>
          <a:prstGeom prst="rect">
            <a:avLst/>
          </a:prstGeom>
          <a:solidFill>
            <a:srgbClr val="2E86AB">
              <a:alpha val="80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685800" y="1508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change_mou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0080" y="1828800"/>
            <a:ext cx="2880360" cy="182880"/>
          </a:xfrm>
          <a:prstGeom prst="rect">
            <a:avLst/>
          </a:prstGeom>
          <a:solidFill>
            <a:srgbClr val="2E86AB">
              <a:alpha val="75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68580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mou_Mean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40080" y="2103120"/>
            <a:ext cx="2560320" cy="182880"/>
          </a:xfrm>
          <a:prstGeom prst="rect">
            <a:avLst/>
          </a:prstGeom>
          <a:solidFill>
            <a:srgbClr val="2E86AB">
              <a:alpha val="70000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685800" y="2057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eqpdays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40080" y="2377440"/>
            <a:ext cx="2240280" cy="182880"/>
          </a:xfrm>
          <a:prstGeom prst="rect">
            <a:avLst/>
          </a:prstGeom>
          <a:solidFill>
            <a:srgbClr val="2E86AB">
              <a:alpha val="65000"/>
            </a:srgbClr>
          </a:solidFill>
          <a:ln/>
        </p:spPr>
      </p:sp>
      <p:sp>
        <p:nvSpPr>
          <p:cNvPr id="16" name="Text 13"/>
          <p:cNvSpPr/>
          <p:nvPr/>
        </p:nvSpPr>
        <p:spPr>
          <a:xfrm>
            <a:off x="685800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months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40080" y="2651760"/>
            <a:ext cx="1920240" cy="182880"/>
          </a:xfrm>
          <a:prstGeom prst="rect">
            <a:avLst/>
          </a:prstGeom>
          <a:solidFill>
            <a:srgbClr val="2E86AB">
              <a:alpha val="60000"/>
            </a:srgbClr>
          </a:solidFill>
          <a:ln/>
        </p:spPr>
      </p:sp>
      <p:sp>
        <p:nvSpPr>
          <p:cNvPr id="18" name="Text 15"/>
          <p:cNvSpPr/>
          <p:nvPr/>
        </p:nvSpPr>
        <p:spPr>
          <a:xfrm>
            <a:off x="685800" y="2606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rev_Mean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40080" y="2926080"/>
            <a:ext cx="1600200" cy="182880"/>
          </a:xfrm>
          <a:prstGeom prst="rect">
            <a:avLst/>
          </a:prstGeom>
          <a:solidFill>
            <a:srgbClr val="2E86AB">
              <a:alpha val="55000"/>
            </a:srgbClr>
          </a:solidFill>
          <a:ln/>
        </p:spPr>
      </p:sp>
      <p:sp>
        <p:nvSpPr>
          <p:cNvPr id="20" name="Text 17"/>
          <p:cNvSpPr/>
          <p:nvPr/>
        </p:nvSpPr>
        <p:spPr>
          <a:xfrm>
            <a:off x="685800" y="2880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roam_Mean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40080" y="3200400"/>
            <a:ext cx="1280160" cy="182880"/>
          </a:xfrm>
          <a:prstGeom prst="rect">
            <a:avLst/>
          </a:prstGeom>
          <a:solidFill>
            <a:srgbClr val="2E86AB">
              <a:alpha val="50000"/>
            </a:srgbClr>
          </a:solidFill>
          <a:ln/>
        </p:spPr>
      </p:sp>
      <p:sp>
        <p:nvSpPr>
          <p:cNvPr id="22" name="Text 19"/>
          <p:cNvSpPr/>
          <p:nvPr/>
        </p:nvSpPr>
        <p:spPr>
          <a:xfrm>
            <a:off x="685800" y="3154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avg3mou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40080" y="3474720"/>
            <a:ext cx="960120" cy="182880"/>
          </a:xfrm>
          <a:prstGeom prst="rect">
            <a:avLst/>
          </a:prstGeom>
          <a:solidFill>
            <a:srgbClr val="2E86AB">
              <a:alpha val="45000"/>
            </a:srgbClr>
          </a:solidFill>
          <a:ln/>
        </p:spPr>
      </p:sp>
      <p:sp>
        <p:nvSpPr>
          <p:cNvPr id="24" name="Text 21"/>
          <p:cNvSpPr/>
          <p:nvPr/>
        </p:nvSpPr>
        <p:spPr>
          <a:xfrm>
            <a:off x="685800" y="3429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call_fail_rate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40080" y="3749040"/>
            <a:ext cx="640080" cy="182880"/>
          </a:xfrm>
          <a:prstGeom prst="rect">
            <a:avLst/>
          </a:prstGeom>
          <a:solidFill>
            <a:srgbClr val="2E86AB">
              <a:alpha val="40000"/>
            </a:srgbClr>
          </a:solidFill>
          <a:ln/>
        </p:spPr>
      </p:sp>
      <p:sp>
        <p:nvSpPr>
          <p:cNvPr id="26" name="Text 23"/>
          <p:cNvSpPr/>
          <p:nvPr/>
        </p:nvSpPr>
        <p:spPr>
          <a:xfrm>
            <a:off x="685800" y="3703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totrev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40080" y="4023360"/>
            <a:ext cx="320040" cy="182880"/>
          </a:xfrm>
          <a:prstGeom prst="rect">
            <a:avLst/>
          </a:prstGeom>
          <a:solidFill>
            <a:srgbClr val="2E86AB">
              <a:alpha val="35000"/>
            </a:srgbClr>
          </a:solidFill>
          <a:ln/>
        </p:spPr>
      </p:sp>
      <p:sp>
        <p:nvSpPr>
          <p:cNvPr id="28" name="Text 25"/>
          <p:cNvSpPr/>
          <p:nvPr/>
        </p:nvSpPr>
        <p:spPr>
          <a:xfrm>
            <a:off x="685800" y="3977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engagement_score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120640" y="1005840"/>
            <a:ext cx="35661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5303520" y="1097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Interpretacion clave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303520" y="150876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change_mou (cambio en minutos de uso) es el predictor mas fuerte: una caida en el uso es la senal mas clara de abandono.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mou_Mean y eqpdays: clientes con poco uso y equipos viejos tienen mayor riesgo.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months: clientes nuevos (&lt;6 meses) son mas volatiles.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</a:rPr>
              <a:t>call_fail_rate (feature nueva): la calidad de servicio impacta directamente en churn.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2E86AB"/>
                </a:solidFill>
              </a:rPr>
              <a:t>SHAP nos da explicaciones por cliente, no solo globales.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371600"/>
            <a:ext cx="54864" cy="2286000"/>
          </a:xfrm>
          <a:prstGeom prst="rect">
            <a:avLst/>
          </a:prstGeom>
          <a:solidFill>
            <a:srgbClr val="E8720C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3716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2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9202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Valor de Negocio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05840" y="283464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curve, analisis de threshold y recomendaciones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4592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Curva de Lift: Impacto en Negocio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Prediction Pipeline — Prueba Técnica SDG Group — Tomas Montero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274320" y="1005840"/>
          <a:ext cx="50292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5577840" y="1005840"/>
            <a:ext cx="320040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577840" y="1005840"/>
            <a:ext cx="54864" cy="3291840"/>
          </a:xfrm>
          <a:prstGeom prst="rect">
            <a:avLst/>
          </a:prstGeom>
          <a:solidFill>
            <a:srgbClr val="E8720C"/>
          </a:solidFill>
          <a:ln/>
        </p:spPr>
      </p:sp>
      <p:sp>
        <p:nvSpPr>
          <p:cNvPr id="10" name="Text 6"/>
          <p:cNvSpPr/>
          <p:nvPr/>
        </p:nvSpPr>
        <p:spPr>
          <a:xfrm>
            <a:off x="5806440" y="1097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practico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806440" y="1463040"/>
            <a:ext cx="28346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Contactando solo al top 10% de clientes por riesgo, capturamos ~16% de los churners.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E86AB"/>
                </a:solidFill>
              </a:rPr>
              <a:t>Lift de 1.62x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vs contactar al azar.</a:t>
            </a:r>
            <a:endParaRPr lang="en-US" sz="11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Esto significa un 62% mas de eficiencia en campanas de retencion frente a un enfoque aleatorio.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El ahorro depende del coste de retencion y del ARPU del cliente, pero en telco el ROI suele ser positivo contactando al top 20-30%.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4592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Estudio de Ablacion: change_mou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Prediction Pipeline — Prueba Técnica SDG Group — Tomas Montero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0080" y="1097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Sospecha: change_mou podria contener informacion del futuro (leakage)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1463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predictor #1 en SHAP. Si representara el cambio DESPUES de la decision de irse, seria trampa. Lo verificamos entrenando el modelo sin esta variable y comparando.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2468880"/>
            <a:ext cx="50292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06040"/>
          <a:ext cx="4663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  <a:gridCol w="118872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Metrica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Con change_mou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Sin change_mou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Delta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AUC-ROC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86AB"/>
                          </a:solidFill>
                        </a:rPr>
                        <a:t>0.7023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~0.67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720C"/>
                          </a:solidFill>
                        </a:rPr>
                        <a:t>~3 pp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F1 Score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86AB"/>
                          </a:solidFill>
                        </a:rPr>
                        <a:t>0.6448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~0.62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720C"/>
                          </a:solidFill>
                        </a:rPr>
                        <a:t>~2.5 pp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760720" y="2468880"/>
            <a:ext cx="29260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60604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00800" y="26060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5943600" y="3063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&lt; 5 pp: change_mou NO es leakage. Es una senal legitima de comportamiento previo al churn.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4592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Recomendaciones de Negocio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Prediction Pipeline — Prueba Técnica SDG Group — Tomas Montero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57200" y="1005840"/>
            <a:ext cx="822960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43000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Campanas de retencion focalizadas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143000" y="1307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el modelo para priorizar el top 20-30% de clientes por riesgo. Lift de 1.5x vs aleatorio.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57200" y="1719072"/>
            <a:ext cx="822960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56232"/>
            <a:ext cx="347472" cy="34747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43000" y="1764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renovacion de equipos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1143000" y="20208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con eqpdays &gt; 365 tienen mayor churn. Ofrecer upgrade subsidiado.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57200" y="2432304"/>
            <a:ext cx="822960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569464"/>
            <a:ext cx="347472" cy="34747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43000" y="2478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calidad de red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143000" y="273405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call_fail_rate predice churn. Monitorizar y actuar proactivamente ante degradacion de servicio.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457200" y="3145536"/>
            <a:ext cx="822960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282696"/>
            <a:ext cx="347472" cy="34747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143000" y="31912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reforzado para nuevos</a:t>
            </a:r>
            <a:endParaRPr lang="en-US" sz="1200" dirty="0"/>
          </a:p>
        </p:txBody>
      </p:sp>
      <p:sp>
        <p:nvSpPr>
          <p:cNvPr id="22" name="Text 15"/>
          <p:cNvSpPr/>
          <p:nvPr/>
        </p:nvSpPr>
        <p:spPr>
          <a:xfrm>
            <a:off x="114300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&lt; 6 meses son volatiles. Implementar programa de bienvenida con incentivos.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457200" y="3858768"/>
            <a:ext cx="822960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995928"/>
            <a:ext cx="347472" cy="34747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143000" y="3904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semanal automatizado</a:t>
            </a:r>
            <a:endParaRPr lang="en-US" sz="1200" dirty="0"/>
          </a:p>
        </p:txBody>
      </p:sp>
      <p:sp>
        <p:nvSpPr>
          <p:cNvPr id="26" name="Text 18"/>
          <p:cNvSpPr/>
          <p:nvPr/>
        </p:nvSpPr>
        <p:spPr>
          <a:xfrm>
            <a:off x="1143000" y="4160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el pipeline periodicamente para actualizar scores y alimentar CRM.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371600"/>
            <a:ext cx="54864" cy="2286000"/>
          </a:xfrm>
          <a:prstGeom prst="rect">
            <a:avLst/>
          </a:prstGeom>
          <a:solidFill>
            <a:srgbClr val="E8720C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3716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2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9202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Arquitectura del Pipeline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05840" y="283464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modulares, Airflow DAG y Docker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4592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Apache Airflow: DAG de 3 Tasks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Prediction Pipeline — Prueba Técnica SDG Group — Tomas Montero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274320" y="1097280"/>
            <a:ext cx="265176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23444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11480" y="1783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data_preparation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411480" y="21945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de trampas, feature engineering, encoding, split 70/15/15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097280" y="3291840"/>
            <a:ext cx="1005840" cy="228600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12" name="Text 8"/>
          <p:cNvSpPr/>
          <p:nvPr/>
        </p:nvSpPr>
        <p:spPr>
          <a:xfrm>
            <a:off x="1097280" y="329184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~16s</a:t>
            </a:r>
            <a:endParaRPr lang="en-US" sz="9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2103120"/>
            <a:ext cx="182880" cy="18288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3246120" y="1097280"/>
            <a:ext cx="265176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1234440"/>
            <a:ext cx="457200" cy="4572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383280" y="1783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train_model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3383280" y="21945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entrenamiento, evaluacion en val set, guardado como pickle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4069080" y="3291840"/>
            <a:ext cx="1005840" cy="228600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19" name="Text 13"/>
          <p:cNvSpPr/>
          <p:nvPr/>
        </p:nvSpPr>
        <p:spPr>
          <a:xfrm>
            <a:off x="4069080" y="329184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~5s</a:t>
            </a:r>
            <a:endParaRPr lang="en-US" sz="9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320" y="2103120"/>
            <a:ext cx="182880" cy="18288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217920" y="1097280"/>
            <a:ext cx="265176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0" y="1234440"/>
            <a:ext cx="457200" cy="457200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6355080" y="1783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evaluate_model</a:t>
            </a:r>
            <a:endParaRPr lang="en-US" sz="1100" dirty="0"/>
          </a:p>
        </p:txBody>
      </p:sp>
      <p:sp>
        <p:nvSpPr>
          <p:cNvPr id="24" name="Text 16"/>
          <p:cNvSpPr/>
          <p:nvPr/>
        </p:nvSpPr>
        <p:spPr>
          <a:xfrm>
            <a:off x="6355080" y="21945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pickle, predicciones en holdout, metricas en logs, JSON</a:t>
            </a:r>
            <a:endParaRPr lang="en-US" sz="1000" dirty="0"/>
          </a:p>
        </p:txBody>
      </p:sp>
      <p:sp>
        <p:nvSpPr>
          <p:cNvPr id="25" name="Shape 17"/>
          <p:cNvSpPr/>
          <p:nvPr/>
        </p:nvSpPr>
        <p:spPr>
          <a:xfrm>
            <a:off x="7040880" y="3291840"/>
            <a:ext cx="1005840" cy="228600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26" name="Text 18"/>
          <p:cNvSpPr/>
          <p:nvPr/>
        </p:nvSpPr>
        <p:spPr>
          <a:xfrm>
            <a:off x="7040880" y="329184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~1s</a:t>
            </a:r>
            <a:endParaRPr lang="en-US" sz="900" dirty="0"/>
          </a:p>
        </p:txBody>
      </p:sp>
      <p:sp>
        <p:nvSpPr>
          <p:cNvPr id="27" name="Shape 19"/>
          <p:cNvSpPr/>
          <p:nvPr/>
        </p:nvSpPr>
        <p:spPr>
          <a:xfrm>
            <a:off x="457200" y="3931920"/>
            <a:ext cx="822960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8" name="Text 20"/>
          <p:cNvSpPr/>
          <p:nvPr/>
        </p:nvSpPr>
        <p:spPr>
          <a:xfrm>
            <a:off x="640080" y="3977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6AB"/>
                </a:solidFill>
              </a:rPr>
              <a:t>PythonOperator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 — cada task importa y ejecuta la funcion main() del script correspondiente. Si un paso falla, el DAG se detiene.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4592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Infraestructura: Docker Compose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Prediction Pipeline — Prueba Técnica SDG Group — Tomas Montero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57200" y="1097280"/>
            <a:ext cx="201168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097280"/>
            <a:ext cx="2011680" cy="54864"/>
          </a:xfrm>
          <a:prstGeom prst="rect">
            <a:avLst/>
          </a:prstGeom>
          <a:solidFill>
            <a:srgbClr val="336791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234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13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48640" y="1600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de Airflow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43200" y="1097280"/>
            <a:ext cx="201168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743200" y="1097280"/>
            <a:ext cx="2011680" cy="54864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3" name="Text 10"/>
          <p:cNvSpPr/>
          <p:nvPr/>
        </p:nvSpPr>
        <p:spPr>
          <a:xfrm>
            <a:off x="2834640" y="1234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Webserver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2834640" y="1600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en localhost:8080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029200" y="1097280"/>
            <a:ext cx="201168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029200" y="1097280"/>
            <a:ext cx="2011680" cy="54864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7" name="Text 14"/>
          <p:cNvSpPr/>
          <p:nvPr/>
        </p:nvSpPr>
        <p:spPr>
          <a:xfrm>
            <a:off x="5120640" y="1234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120640" y="1600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 DAGs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7315200" y="1097280"/>
            <a:ext cx="201168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315200" y="1097280"/>
            <a:ext cx="2011680" cy="54864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21" name="Text 18"/>
          <p:cNvSpPr/>
          <p:nvPr/>
        </p:nvSpPr>
        <p:spPr>
          <a:xfrm>
            <a:off x="7406640" y="1234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Triggerer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406640" y="1600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Deferrable ops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7200" y="2286000"/>
            <a:ext cx="393192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640080" y="2377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diseno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64008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</a:rPr>
              <a:t>LocalExecutor: suficiente para 1 DAG secuencial. No necesitamos Celery + Redis (menos complejidad, menos RAM).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</a:rPr>
              <a:t>Imagen custom: la base de Airflow no incluye xgboost, sklearn, etc. El Dockerfile instala requirements.txt.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</a:rPr>
              <a:t>Volumenes montados: scripts/, data/ y models/ se montan en el contenedor, no se copian. Facilita el desarrollo iterativo.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</a:rPr>
              <a:t>Variables de entorno: rutas configurables (CHURN_DATA_DIR, etc.) para flexibilidad.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663440" y="2286000"/>
            <a:ext cx="402336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4846320" y="2377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 clave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4846320" y="2788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build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4846320" y="3081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airflow-init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846320" y="33741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-d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4846320" y="36667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http://localhost:8080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4846320" y="3959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user: airflow / pass: airflow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371600"/>
            <a:ext cx="54864" cy="2286000"/>
          </a:xfrm>
          <a:prstGeom prst="rect">
            <a:avLst/>
          </a:prstGeom>
          <a:solidFill>
            <a:srgbClr val="E8720C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3716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2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9202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Conclusiones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05840" y="283464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Resumen, limitaciones y siguientes pasos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4592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Resumen y Siguientes Pasos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Prediction Pipeline — Prueba Técnica SDG Group — Tomas Montero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57200" y="1051560"/>
            <a:ext cx="402336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0080" y="1143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hemos construido</a:t>
            </a:r>
            <a:endParaRPr lang="en-US" sz="14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15544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profundo con deteccion de 13+ trampas</a:t>
            </a:r>
            <a:endParaRPr lang="en-US" sz="11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84248"/>
            <a:ext cx="228600" cy="2286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60120" y="193852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features nuevas con logica de negocio</a:t>
            </a:r>
            <a:endParaRPr lang="en-US" sz="11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368296"/>
            <a:ext cx="228600" cy="2286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960120" y="232257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tuneado: AUC 0.70, Lift 1.62x</a:t>
            </a:r>
            <a:endParaRPr lang="en-US" sz="11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2752344"/>
            <a:ext cx="228600" cy="2286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960120" y="2706624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para explicabilidad por cliente</a:t>
            </a:r>
            <a:endParaRPr lang="en-US" sz="110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136392"/>
            <a:ext cx="228600" cy="22860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960120" y="30906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scripts modulares y testeados</a:t>
            </a:r>
            <a:endParaRPr lang="en-US" sz="1100" dirty="0"/>
          </a:p>
        </p:txBody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3520440"/>
            <a:ext cx="228600" cy="228600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960120" y="34747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Airflow + Docker listo para deploy</a:t>
            </a:r>
            <a:endParaRPr lang="en-US" sz="1100" dirty="0"/>
          </a:p>
        </p:txBody>
      </p:sp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3904488"/>
            <a:ext cx="228600" cy="228600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960120" y="385876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de ablacion (no-leakage)</a:t>
            </a:r>
            <a:endParaRPr lang="en-US" sz="1100" dirty="0"/>
          </a:p>
        </p:txBody>
      </p:sp>
      <p:sp>
        <p:nvSpPr>
          <p:cNvPr id="23" name="Shape 13"/>
          <p:cNvSpPr/>
          <p:nvPr/>
        </p:nvSpPr>
        <p:spPr>
          <a:xfrm>
            <a:off x="4754880" y="1051560"/>
            <a:ext cx="393192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4" name="Text 14"/>
          <p:cNvSpPr/>
          <p:nvPr/>
        </p:nvSpPr>
        <p:spPr>
          <a:xfrm>
            <a:off x="4937760" y="11430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Siguientes pasos</a:t>
            </a:r>
            <a:endParaRPr lang="en-US" sz="1400" dirty="0"/>
          </a:p>
        </p:txBody>
      </p:sp>
      <p:sp>
        <p:nvSpPr>
          <p:cNvPr id="25" name="Text 15"/>
          <p:cNvSpPr/>
          <p:nvPr/>
        </p:nvSpPr>
        <p:spPr>
          <a:xfrm>
            <a:off x="4937760" y="155448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</a:rPr>
              <a:t>MLflow para experiment tracking — versionar modelos, comparar runs, registro de artefactos.</a:t>
            </a:r>
            <a:endParaRPr lang="en-US" sz="10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</a:rPr>
              <a:t>PostgreSQL para persistencia de datos procesados en vez de CSVs.</a:t>
            </a:r>
            <a:endParaRPr lang="en-US" sz="10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</a:rPr>
              <a:t>Prometheus + Grafana para monitorizar drift del modelo y metricas en produccion.</a:t>
            </a:r>
            <a:endParaRPr lang="en-US" sz="10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</a:rPr>
              <a:t>Feature store para centralizar features reutilizables entre modelos.</a:t>
            </a:r>
            <a:endParaRPr lang="en-US" sz="10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</a:rPr>
              <a:t>A/B testing para validar impacto real de las campanas de retencion basadas en el modelo.</a:t>
            </a:r>
            <a:endParaRPr lang="en-US" sz="10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</a:rPr>
              <a:t>Datos reales desbalanceados: adaptar con SMOTE/class_weight para churn real (~2%).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E872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6340"/>
            <a:ext cx="9144000" cy="137160"/>
          </a:xfrm>
          <a:prstGeom prst="rect">
            <a:avLst/>
          </a:prstGeom>
          <a:solidFill>
            <a:srgbClr val="E8720C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09728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0" y="2286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72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Respuestas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34747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C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Tomas Montero  |  ma2montero@gmail.com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Churn Prediction — Prueba Técnica SDG Group</dc:title>
  <dc:subject>PptxGenJS Presentation</dc:subject>
  <dc:creator>Tomas Montero</dc:creator>
  <cp:lastModifiedBy>Tomas Montero</cp:lastModifiedBy>
  <cp:revision>1</cp:revision>
  <dcterms:created xsi:type="dcterms:W3CDTF">2026-04-19T08:35:32Z</dcterms:created>
  <dcterms:modified xsi:type="dcterms:W3CDTF">2026-04-19T08:35:32Z</dcterms:modified>
</cp:coreProperties>
</file>