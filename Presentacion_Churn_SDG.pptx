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83" r:id="rId34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81" r:id="rId32"/>
    <p:sldId id="282" r:id="rId3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5.xml"/><Relationship Id="rId25" Type="http://schemas.openxmlformats.org/officeDocument/2006/relationships/slide" Target="slides/slide26.xml"/><Relationship Id="rId26" Type="http://schemas.openxmlformats.org/officeDocument/2006/relationships/slide" Target="slides/slide27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8.xml"/></Relationships>
</file>

<file path=ppt/charts/_rels/chart1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AUC-ROC</c:v>
                </c:pt>
              </c:strCache>
            </c:strRef>
          </c:tx>
          <c:spPr>
            <a:solidFill>
              <a:srgbClr val="0078D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9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Logistic Reg.</c:v>
                  </c:pt>
                  <c:pt idx="1">
                    <c:v>Decision Tree</c:v>
                  </c:pt>
                  <c:pt idx="2">
                    <c:v>Random Forest</c:v>
                  </c:pt>
                  <c:pt idx="3">
                    <c:v>LightGBM</c:v>
                  </c:pt>
                  <c:pt idx="4">
                    <c:v>XGBoost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0.626</c:v>
                </c:pt>
                <c:pt idx="1">
                  <c:v>0.638</c:v>
                </c:pt>
                <c:pt idx="2">
                  <c:v>0.671</c:v>
                </c:pt>
                <c:pt idx="3">
                  <c:v>0.694</c:v>
                </c:pt>
                <c:pt idx="4">
                  <c:v>0.694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F29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5"/>
          <c:min val="0.5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937"/>
                </a:solidFill>
                <a:latin typeface="Arial"/>
              </a:rPr>
              <a:t>Lift vs % de clientes contactados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Modelo</c:v>
                </c:pt>
              </c:strCache>
            </c:strRef>
          </c:tx>
          <c:spPr>
            <a:solidFill>
              <a:srgbClr val="0078D4"/>
            </a:solidFill>
            <a:ln w="38100" cap="flat">
              <a:solidFill>
                <a:srgbClr val="0078D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78D4"/>
              </a:solidFill>
              <a:ln w="9525" cap="flat">
                <a:solidFill>
                  <a:srgbClr val="0078D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5%</c:v>
                  </c:pt>
                  <c:pt idx="1">
                    <c:v>10%</c:v>
                  </c:pt>
                  <c:pt idx="2">
                    <c:v>15%</c:v>
                  </c:pt>
                  <c:pt idx="3">
                    <c:v>20%</c:v>
                  </c:pt>
                  <c:pt idx="4">
                    <c:v>25%</c:v>
                  </c:pt>
                  <c:pt idx="5">
                    <c:v>30%</c:v>
                  </c:pt>
                  <c:pt idx="6">
                    <c:v>40%</c:v>
                  </c:pt>
                  <c:pt idx="7">
                    <c:v>50%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1.67</c:v>
                </c:pt>
                <c:pt idx="1">
                  <c:v>1.59</c:v>
                </c:pt>
                <c:pt idx="2">
                  <c:v>1.54</c:v>
                </c:pt>
                <c:pt idx="3">
                  <c:v>1.49</c:v>
                </c:pt>
                <c:pt idx="4">
                  <c:v>1.44</c:v>
                </c:pt>
                <c:pt idx="5">
                  <c:v>1.41</c:v>
                </c:pt>
                <c:pt idx="6">
                  <c:v>1.35</c:v>
                </c:pt>
                <c:pt idx="7">
                  <c:v>1.29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Aleatorio</c:v>
                </c:pt>
              </c:strCache>
            </c:strRef>
          </c:tx>
          <c:spPr>
            <a:solidFill>
              <a:srgbClr val="9CA3AF"/>
            </a:solidFill>
            <a:ln w="38100" cap="flat">
              <a:solidFill>
                <a:srgbClr val="9CA3A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CA3AF"/>
              </a:solidFill>
              <a:ln w="9525" cap="flat">
                <a:solidFill>
                  <a:srgbClr val="9CA3A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5%</c:v>
                  </c:pt>
                  <c:pt idx="1">
                    <c:v>10%</c:v>
                  </c:pt>
                  <c:pt idx="2">
                    <c:v>15%</c:v>
                  </c:pt>
                  <c:pt idx="3">
                    <c:v>20%</c:v>
                  </c:pt>
                  <c:pt idx="4">
                    <c:v>25%</c:v>
                  </c:pt>
                  <c:pt idx="5">
                    <c:v>30%</c:v>
                  </c:pt>
                  <c:pt idx="6">
                    <c:v>40%</c:v>
                  </c:pt>
                  <c:pt idx="7">
                    <c:v>50%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"/>
          <c:min val="0.8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1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4.xml"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78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914400" cy="457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1828800"/>
            <a:ext cx="7680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Prediccion de Churn</a:t>
            </a:r>
            <a:endParaRPr lang="en-US" sz="3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Telecomunicaciones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3474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Tecnica — Data Scientist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4114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Miguel Ángel Montero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44348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Abril 2026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9" name="Oval 8"/>
          <p:cNvSpPr/>
          <p:nvPr/>
        </p:nvSpPr>
        <p:spPr>
          <a:xfrm>
            <a:off x="6400000" y="800000"/>
            <a:ext cx="3200000" cy="3200000"/>
          </a:xfrm>
          <a:prstGeom prst="ellipse">
            <a:avLst/>
          </a:prstGeom>
          <a:solidFill>
            <a:srgbClr val="FFFF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00000" y="2500000"/>
            <a:ext cx="2200000" cy="2200000"/>
          </a:xfrm>
          <a:prstGeom prst="ellipse">
            <a:avLst/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00000" y="300000"/>
            <a:ext cx="1000000" cy="100000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3840480" cy="514350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657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411480" cy="411480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32104" y="1783080"/>
            <a:ext cx="18288" cy="13716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23444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del problema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1920240"/>
            <a:ext cx="411480" cy="411480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920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32104" y="2331720"/>
            <a:ext cx="18288" cy="13716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234440" y="19202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Analisis exploratorio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2468880"/>
            <a:ext cx="411480" cy="411480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0080" y="2468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32104" y="2880360"/>
            <a:ext cx="18288" cy="13716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234440" y="246888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predictivo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3017520"/>
            <a:ext cx="411480" cy="411480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0080" y="3017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32104" y="3429000"/>
            <a:ext cx="18288" cy="13716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234440" y="30175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de negocio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3566160"/>
            <a:ext cx="411480" cy="411480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40080" y="3566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32104" y="3977640"/>
            <a:ext cx="18288" cy="13716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1234440" y="35661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del pipeline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4114800"/>
            <a:ext cx="411480" cy="411480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40080" y="4114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234440" y="41148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 y siguientes pasos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30" name="Oval 29"/>
          <p:cNvSpPr/>
          <p:nvPr/>
        </p:nvSpPr>
        <p:spPr>
          <a:xfrm>
            <a:off x="5500000" y="500000"/>
            <a:ext cx="2500000" cy="2500000"/>
          </a:xfrm>
          <a:prstGeom prst="ellipse">
            <a:avLst/>
          </a:prstGeom>
          <a:solidFill>
            <a:srgbClr val="0078D4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800000" y="2000000"/>
            <a:ext cx="1800000" cy="1800000"/>
          </a:xfrm>
          <a:prstGeom prst="ellipse">
            <a:avLst/>
          </a:prstGeom>
          <a:solidFill>
            <a:srgbClr val="0078D4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000000" y="3200000"/>
            <a:ext cx="1200000" cy="1200000"/>
          </a:xfrm>
          <a:prstGeom prst="ellipse">
            <a:avLst/>
          </a:prstGeom>
          <a:solidFill>
            <a:srgbClr val="0078D4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2148840"/>
            <a:ext cx="73152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23317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del Problema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315468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Entendiendo el churn en telecomunicaciones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Problema: Churn en Telecomunicaciones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</a:rPr>
              <a:t>Captar un nuevo cliente cuesta 5-7x mas que retener uno existente.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
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En telecomunicaciones, el churn mensual tipico oscila entre el 1-3%. Identificar clientes en riesgo ANTES de que se vayan permite intervenir con ofertas de retencion dirigidas.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
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Objetivo: construir un modelo predictivo que identifique a los clientes con mayor probabilidad de abandonar, permitiendo priorizar acciones de retencion.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0" y="1188720"/>
            <a:ext cx="3657600" cy="960120"/>
          </a:xfrm>
          <a:prstGeom prst="roundRect">
            <a:avLst>
              <a:gd name="adj" fmla="val 7619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029200" y="1188720"/>
            <a:ext cx="73152" cy="96012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303520" y="12801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100K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5303520" y="1737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en el dataset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0" y="2331720"/>
            <a:ext cx="3657600" cy="960120"/>
          </a:xfrm>
          <a:prstGeom prst="roundRect">
            <a:avLst>
              <a:gd name="adj" fmla="val 7619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5029200" y="2331720"/>
            <a:ext cx="73152" cy="96012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303520" y="24231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303520" y="2880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originales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0" y="3474720"/>
            <a:ext cx="3657600" cy="960120"/>
          </a:xfrm>
          <a:prstGeom prst="roundRect">
            <a:avLst>
              <a:gd name="adj" fmla="val 7619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029200" y="3474720"/>
            <a:ext cx="73152" cy="96012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303520" y="35661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50/50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5303520" y="4023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churn/no-churn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2148840"/>
            <a:ext cx="73152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23317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Analisis Exploratorio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315468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clave, peculiaridades y feature engineering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EDA: Hallazgos Principales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71600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51560" y="13258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artificial 50/50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40080" y="173736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dataset esta balanceado artificialmente. Poco realista (churn real ~1-3%), pero elimina la necesidad de tecnicas de oversampling.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754880" y="118872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  <p:txBody>
          <a:bodyPr/>
          <a:p/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37160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349240" y="13258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Nulos camuflados ('U', 'Z')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4937760" y="173736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columnas kid0_2 a kid16_17 usan 'U' como null (&gt;90%). Otros campos usan 'Z'. Reemplazados por NaN antes de cualquier analisis.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57200" y="297180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  <p:txBody>
          <a:bodyPr/>
          <a:p/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15468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051560" y="31089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Multicolinealidad extrema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640080" y="35204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Pares de variables con correlacion r=1.000 (p.ej. rev_Mean/totrev). Eliminamos la de menor correlacion con churn (umbral: r&gt;0.98).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4754880" y="297180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  <p:txBody>
          <a:bodyPr/>
          <a:p/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3154680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5349240" y="31089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negativos en eqpdays</a:t>
            </a:r>
            <a:endParaRPr lang="en-US" sz="1250" dirty="0"/>
          </a:p>
        </p:txBody>
      </p:sp>
      <p:sp>
        <p:nvSpPr>
          <p:cNvPr id="21" name="Text 15"/>
          <p:cNvSpPr/>
          <p:nvPr/>
        </p:nvSpPr>
        <p:spPr>
          <a:xfrm>
            <a:off x="4937760" y="35204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 de antiguedad del equipo con valores negativos (fisicamente imposible). Convertidos a NaN e imputados con la mediana.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Peculiaridades Detectadas en el Dataset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57200" y="1097280"/>
            <a:ext cx="54864" cy="59436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85800" y="1252728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DC2626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5800" y="125272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691640" y="11338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Customer_ID ordenado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691640" y="13898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IDs correlacionados con churn. No se usa como feature para evitar data leakage.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1810512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57200" y="1810512"/>
            <a:ext cx="54864" cy="59436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85800" y="1965960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85800" y="196596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691640" y="1847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Varianza casi nula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691640" y="210312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con &gt;99% del mismo valor eliminadas: no aportan informacion discriminativa.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2523744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57200" y="2523744"/>
            <a:ext cx="54864" cy="59436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85800" y="2679192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85800" y="267919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691640" y="2560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Dummies sin senal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691640" y="281635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Binarias con churn rate identico en 0 y 1 (diferencia &lt; 1%). Eliminadas.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3236976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457200" y="3236976"/>
            <a:ext cx="54864" cy="594360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685800" y="3392424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22C55E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85800" y="339242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VALIDADA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691640" y="32735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change_mou: leakage?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691640" y="352958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Cambio de uso sospechoso. Estudio de ablacion confirmo que NO es leakage (delta AUC &lt; 5 pp).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57200" y="3950208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457200" y="3950208"/>
            <a:ext cx="54864" cy="59436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85800" y="4105656"/>
            <a:ext cx="868680" cy="274320"/>
          </a:xfrm>
          <a:prstGeom prst="roundRect">
            <a:avLst>
              <a:gd name="adj" fmla="val 16667"/>
            </a:avLst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685800" y="410565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691640" y="39867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Columnas &gt;85% nulos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1691640" y="4242816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Eliminadas directamente. Imputar mas del 85% seria inventar datos.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Engineering: 8 Variables Nuevas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94360" y="10972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651760" y="10972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Descripcion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0" y="10972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463040"/>
            <a:ext cx="8229600" cy="402336"/>
          </a:xfrm>
          <a:prstGeom prst="rect">
            <a:avLst/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94360" y="146304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rev_per_minute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651760" y="1463040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Ingreso por minuto de uso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0" y="1463040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rev_Mean / mou_Mean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1865376"/>
            <a:ext cx="8229600" cy="40233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94360" y="1865376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call_fail_rate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651760" y="1865376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fallos de llamadas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669280" y="1865376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(drop + blck) / intentos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267712"/>
            <a:ext cx="8229600" cy="402336"/>
          </a:xfrm>
          <a:prstGeom prst="rect">
            <a:avLst/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94360" y="2267712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care_intensity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651760" y="226771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Intensidad de contacto soporte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669280" y="226771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custcare / mou_Mean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2670048"/>
            <a:ext cx="8229600" cy="40233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94360" y="26700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old_device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651760" y="2670048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antiguo (&gt;1 ano)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669280" y="2670048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eqpdays &gt; 365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7200" y="3072384"/>
            <a:ext cx="8229600" cy="402336"/>
          </a:xfrm>
          <a:prstGeom prst="rect">
            <a:avLst/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94360" y="3072384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usage_drop_severe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2651760" y="3072384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Caida severa de uso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669280" y="3072384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change_mou &lt; -50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" y="3474720"/>
            <a:ext cx="8229600" cy="40233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594360" y="347472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rev_vs_avg3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651760" y="3474720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Facturacion vs media historica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669280" y="3474720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rev_Mean / avg3rev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3877056"/>
            <a:ext cx="8229600" cy="402336"/>
          </a:xfrm>
          <a:prstGeom prst="rect">
            <a:avLst/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594360" y="3877056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new_customer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2651760" y="3877056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nuevo (&lt; 6 meses)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669280" y="3877056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months &lt;= 6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4279392"/>
            <a:ext cx="8229600" cy="40233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594360" y="4279392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engagement_score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2651760" y="427939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de engagement compuesto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669280" y="427939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rank(mou + comp + recv) / 3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Criterio: variables interpretables para el negocio, derivadas de patrones encontrados en el EDA.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2148840"/>
            <a:ext cx="73152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23317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Predictivo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315468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Seleccion, entrenamiento, evaluacion e interpretabilidad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Preprocesamiento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74320" y="1371600"/>
            <a:ext cx="1554480" cy="210312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22960" y="1508760"/>
            <a:ext cx="457200" cy="457200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5760" y="20574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Limpieza de peculiaridades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6517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Nulos camuflados, negativos, multicolinealidad, varianza nula</a:t>
            </a:r>
            <a:endParaRPr lang="en-US" sz="95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74520" y="2148840"/>
            <a:ext cx="137160" cy="13716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2029968" y="1371600"/>
            <a:ext cx="1554480" cy="210312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2578608" y="1508760"/>
            <a:ext cx="457200" cy="457200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2578608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2121408" y="20574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2121408" y="26517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variables nuevas con logica de negocio</a:t>
            </a:r>
            <a:endParaRPr lang="en-US" sz="950" dirty="0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0168" y="2148840"/>
            <a:ext cx="137160" cy="137160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3785616" y="1371600"/>
            <a:ext cx="1554480" cy="210312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19" name="Shape 15"/>
          <p:cNvSpPr/>
          <p:nvPr/>
        </p:nvSpPr>
        <p:spPr>
          <a:xfrm>
            <a:off x="4334256" y="1508760"/>
            <a:ext cx="457200" cy="457200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20" name="Text 16"/>
          <p:cNvSpPr/>
          <p:nvPr/>
        </p:nvSpPr>
        <p:spPr>
          <a:xfrm>
            <a:off x="433425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3877056" y="20574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LabelEncoder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3877056" y="26517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Categoricas convertidas a numerico</a:t>
            </a:r>
            <a:endParaRPr lang="en-US" sz="950" dirty="0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5816" y="2148840"/>
            <a:ext cx="137160" cy="137160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5541264" y="1371600"/>
            <a:ext cx="1554480" cy="210312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25" name="Shape 20"/>
          <p:cNvSpPr/>
          <p:nvPr/>
        </p:nvSpPr>
        <p:spPr>
          <a:xfrm>
            <a:off x="6089904" y="1508760"/>
            <a:ext cx="457200" cy="457200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26" name="Text 21"/>
          <p:cNvSpPr/>
          <p:nvPr/>
        </p:nvSpPr>
        <p:spPr>
          <a:xfrm>
            <a:off x="6089904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2"/>
          <p:cNvSpPr/>
          <p:nvPr/>
        </p:nvSpPr>
        <p:spPr>
          <a:xfrm>
            <a:off x="5632704" y="20574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Imputacion mediana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5632704" y="26517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Nulos numericos rellenados con la mediana</a:t>
            </a:r>
            <a:endParaRPr lang="en-US" sz="950" dirty="0"/>
          </a:p>
        </p:txBody>
      </p:sp>
      <p:pic>
        <p:nvPicPr>
          <p:cNvPr id="29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1464" y="2148840"/>
            <a:ext cx="137160" cy="137160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7296912" y="1371600"/>
            <a:ext cx="1554480" cy="2103120"/>
          </a:xfrm>
          <a:prstGeom prst="roundRect">
            <a:avLst>
              <a:gd name="adj" fmla="val 4706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31" name="Shape 25"/>
          <p:cNvSpPr/>
          <p:nvPr/>
        </p:nvSpPr>
        <p:spPr>
          <a:xfrm>
            <a:off x="7845552" y="1508760"/>
            <a:ext cx="457200" cy="457200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32" name="Text 26"/>
          <p:cNvSpPr/>
          <p:nvPr/>
        </p:nvSpPr>
        <p:spPr>
          <a:xfrm>
            <a:off x="7845552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3" name="Text 27"/>
          <p:cNvSpPr/>
          <p:nvPr/>
        </p:nvSpPr>
        <p:spPr>
          <a:xfrm>
            <a:off x="7388352" y="20574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70/15/15</a:t>
            </a:r>
            <a:endParaRPr lang="en-US" sz="1100" dirty="0"/>
          </a:p>
        </p:txBody>
      </p:sp>
      <p:sp>
        <p:nvSpPr>
          <p:cNvPr id="34" name="Text 28"/>
          <p:cNvSpPr/>
          <p:nvPr/>
        </p:nvSpPr>
        <p:spPr>
          <a:xfrm>
            <a:off x="7388352" y="26517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/ Validation / Test estratificado</a:t>
            </a:r>
            <a:endParaRPr lang="en-US" sz="950" dirty="0"/>
          </a:p>
        </p:txBody>
      </p:sp>
      <p:sp>
        <p:nvSpPr>
          <p:cNvPr id="35" name="Text 29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100K filas x 88 columnas limpias, sin leakage, listas para modelar.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Benchmarking: 5 Modelos Evaluados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097280"/>
          <a:ext cx="50292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760720" y="1097280"/>
            <a:ext cx="3017520" cy="3291840"/>
          </a:xfrm>
          <a:prstGeom prst="roundRect">
            <a:avLst>
              <a:gd name="adj" fmla="val 2424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5760720" y="1097280"/>
            <a:ext cx="54864" cy="329184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5989320" y="12344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XGBoost?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989320" y="1645920"/>
            <a:ext cx="26517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</a:rPr>
              <a:t>Empata con LightGBM en AUC-ROC (0.694) pero ofrece:</a:t>
            </a:r>
            <a:endParaRPr lang="en-US" sz="11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</a:rPr>
              <a:t>Regularizacion L1/L2 nativa que controla overfitting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</a:rPr>
              <a:t>Mejor soporte de SHAP (TreeExplainer optimizado)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</a:rPr>
              <a:t>Ecosistema maduro y well-documented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</a:rPr>
              <a:t>Tuning mas controlable via scale_pos_weight</a:t>
            </a:r>
            <a:endParaRPr lang="en-US" sz="11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10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</a:rPr>
              <a:t>Logistic Regression se mantiene como baseline interpretable.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 Tuning: RandomizedSearchCV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4023360" cy="3500000"/>
          </a:xfrm>
          <a:prstGeom prst="roundRect">
            <a:avLst>
              <a:gd name="adj" fmla="val 2222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234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1645920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45920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RandomizedSearchCV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" y="1911096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Iteraciones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86000" y="1911096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2176272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286000" y="2176272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3-fold estratificado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0080" y="2441448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Metrica objetivo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286000" y="2441448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AUC-ROC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" y="2706624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max_depth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286000" y="2706624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[4, 5, 6, 7, 8]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" y="2971800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learning_rate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286000" y="2971800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[0.01, 0.05, 0.1, 0.15]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" y="3236976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n_estimators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286000" y="3236976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[200, 300, 500]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" y="3502152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subsample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286000" y="3502152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[0.7, 0.8, 0.9]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" y="3767328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colsample_bytree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286000" y="3767328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[0.6, 0.7, 0.8, 0.9]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0080" y="4032504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reg_alpha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286000" y="4032504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[0, 0.01, 0.1, 0.5]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" y="4297680"/>
            <a:ext cx="1645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reg_lambda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286000" y="4297680"/>
            <a:ext cx="20116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[0.5, 1.0, 2.0, 5.0]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54880" y="1143000"/>
            <a:ext cx="3931920" cy="3291840"/>
          </a:xfrm>
          <a:prstGeom prst="roundRect">
            <a:avLst>
              <a:gd name="adj" fmla="val 2222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4937760" y="12344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esta configuracion?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937760" y="1645920"/>
            <a:ext cx="3566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RandomizedSearch vs GridSearch: con 11 hiperparametros, el grid completo seria intratable. 30 iteraciones aleatorias cubren el espacio de forma eficiente.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3-fold: equilibrio entre robustez estadistica y tiempo de computo. Con 100K filas, cada fold tiene ~67K muestras.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AUC-ROC como metrica: es threshold-independent, lo que permite optimizar sin comprometerse a un punto de corte fijo.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Regularizacion (alpha, lambda): controla overfitting en un dataset con 88 features.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Metricas Finales en Test Set (Holdout)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65760" y="1143000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65760" y="1143000"/>
            <a:ext cx="1965960" cy="54864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65760" y="132588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0.6986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" y="19659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514600" y="1143000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2514600" y="1143000"/>
            <a:ext cx="1965960" cy="54864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514600" y="132588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0.6399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2514600" y="19659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Score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663440" y="1143000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4663440" y="1143000"/>
            <a:ext cx="1965960" cy="5486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663440" y="132588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0.6415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4663440" y="19659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12280" y="1143000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812280" y="1143000"/>
            <a:ext cx="1965960" cy="54864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812280" y="132588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0.6382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6812280" y="19659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2651760"/>
            <a:ext cx="4114800" cy="1828800"/>
          </a:xfrm>
          <a:prstGeom prst="roundRect">
            <a:avLst>
              <a:gd name="adj" fmla="val 4000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40080" y="2743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108960"/>
          <a:ext cx="3657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371600"/>
                <a:gridCol w="137160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B5563"/>
                          </a:solidFill>
                        </a:rPr>
                        <a:t>Pred: No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B5563"/>
                          </a:solidFill>
                        </a:rPr>
                        <a:t>Pred: Si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B5563"/>
                          </a:solidFill>
                        </a:rPr>
                        <a:t>Real: No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C55E"/>
                          </a:solidFill>
                        </a:rPr>
                        <a:t>4,863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C2626"/>
                          </a:solidFill>
                        </a:rPr>
                        <a:t>2,703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B5563"/>
                          </a:solidFill>
                        </a:rPr>
                        <a:t>Real: Si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C2626"/>
                          </a:solidFill>
                        </a:rPr>
                        <a:t>2,665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C55E"/>
                          </a:solidFill>
                        </a:rPr>
                        <a:t>4,769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hape 22"/>
          <p:cNvSpPr/>
          <p:nvPr/>
        </p:nvSpPr>
        <p:spPr>
          <a:xfrm>
            <a:off x="4846320" y="2651760"/>
            <a:ext cx="3840480" cy="2100000"/>
          </a:xfrm>
          <a:prstGeom prst="roundRect">
            <a:avLst>
              <a:gd name="adj" fmla="val 4000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5029200" y="27432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Interpretacion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5029200" y="3108960"/>
            <a:ext cx="3474720" cy="1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AUC 0.70 indica capacidad discriminativa moderada-buena. Dado un dataset con 100 features ruidosas y peculiaridades, es un resultado solido.</a:t>
            </a:r>
            <a:endParaRPr lang="en-US" sz="105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Recall 64.2%: de cada 100 churners reales, identificamos ~64.</a:t>
            </a:r>
            <a:endParaRPr lang="en-US" sz="105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</a:rPr>
              <a:t>El threshold de 0.50 se puede ajustar segun el coste de FP vs FN del negocio.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Entendiendo las Metricas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57200" y="1097280"/>
            <a:ext cx="54864" cy="74980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85800" y="11704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011680" y="114300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bajo la curva ROC. Mide la capacidad del modelo de separar las dos clases independientemente del threshold.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011680" y="1481328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metrica principal porque no depende de un punto de corte arbitrario.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57200" y="1965960"/>
            <a:ext cx="54864" cy="74980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85800" y="20391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011680" y="201168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que predecimos como churn, que % realmente lo son.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011680" y="2350008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precision = menos falsos positivos = menos gasto en retencion de clientes que no iban a irse.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83464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57200" y="2834640"/>
            <a:ext cx="54864" cy="74980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85800" y="29077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011680" y="288036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churners reales, que % identificamos.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011680" y="3218688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recall = detectamos mas churners = menos ingresos perdidos por clientes no identificados.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70332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457200" y="3703320"/>
            <a:ext cx="54864" cy="74980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85800" y="37764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011680" y="374904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armonica de Precision y Recall.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011680" y="4087368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Equilibra ambas metricas. Util cuando el coste de FP y FN es similar.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SHAP: Interpretabilidad del Modelo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4389120" cy="3383280"/>
          </a:xfrm>
          <a:prstGeom prst="roundRect">
            <a:avLst>
              <a:gd name="adj" fmla="val 2162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1887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Features (SHAP Values)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1645920"/>
            <a:ext cx="320040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85000"/>
            </a:srgbClr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5800" y="1600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change_mou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40080" y="1920240"/>
            <a:ext cx="288036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79000"/>
            </a:srgbClr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8580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mou_Mean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40080" y="2194560"/>
            <a:ext cx="256032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73000"/>
            </a:srgbClr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85800" y="2148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eqpdays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40080" y="2468880"/>
            <a:ext cx="224028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67000"/>
            </a:srgbClr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85800" y="2423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40080" y="2743200"/>
            <a:ext cx="192024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61000"/>
            </a:srgbClr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8580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rev_Mean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40080" y="3017520"/>
            <a:ext cx="160020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55000"/>
            </a:srgbClr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85800" y="2971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roam_Mean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40080" y="3291840"/>
            <a:ext cx="128016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49000"/>
            </a:srgbClr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85800" y="3246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avg3mou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40080" y="3566160"/>
            <a:ext cx="96012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43000"/>
            </a:srgbClr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85800" y="3520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call_fail_rate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40080" y="3840480"/>
            <a:ext cx="64008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37000"/>
            </a:srgbClr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85800" y="3794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totrev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40080" y="4114800"/>
            <a:ext cx="320040" cy="182880"/>
          </a:xfrm>
          <a:prstGeom prst="roundRect">
            <a:avLst>
              <a:gd name="adj" fmla="val 15000"/>
            </a:avLst>
          </a:prstGeom>
          <a:solidFill>
            <a:srgbClr val="0078D4">
              <a:alpha val="31000"/>
            </a:srgbClr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85800" y="4069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engagement_score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120640" y="1097280"/>
            <a:ext cx="3566160" cy="3383280"/>
          </a:xfrm>
          <a:prstGeom prst="roundRect">
            <a:avLst>
              <a:gd name="adj" fmla="val 2162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303520" y="11887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Interpretacion clave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303520" y="1600200"/>
            <a:ext cx="3200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change_mou (cambio en minutos de uso) es el predictor mas fuerte: una caida en el uso es la senal mas clara de abandono.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mou_Mean y eqpdays: clientes con poco uso y equipos viejos tienen mayor riesgo.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months: clientes nuevos (&lt;6 meses) son mas volatiles.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</a:rPr>
              <a:t>call_fail_rate (feature nueva): la calidad de servicio impacta directamente en churn.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0078D4"/>
                </a:solidFill>
              </a:rPr>
              <a:t>SHAP nos da explicaciones por cliente, no solo globales.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2148840"/>
            <a:ext cx="73152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23317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de Negocio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315468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 curve, analisis de threshold y recomendaciones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Curva de Lift: Impacto en Negocio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274320" y="109728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577840" y="1097280"/>
            <a:ext cx="3200400" cy="3500000"/>
          </a:xfrm>
          <a:prstGeom prst="roundRect">
            <a:avLst>
              <a:gd name="adj" fmla="val 2286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5577840" y="1097280"/>
            <a:ext cx="54864" cy="32004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5806440" y="11887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practico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806440" y="1554480"/>
            <a:ext cx="2834640" cy="2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</a:rPr>
              <a:t>Contactando solo al top 10% de clientes por riesgo, capturamos ~16% de los churners.</a:t>
            </a:r>
            <a:endParaRPr lang="en-US" sz="11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078D4"/>
                </a:solidFill>
              </a:rPr>
              <a:t>Lift de 1.59x</a:t>
            </a:r>
            <a:endParaRPr lang="en-US" sz="11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</a:rPr>
              <a:t>vs contactar al azar.</a:t>
            </a:r>
            <a:endParaRPr lang="en-US" sz="11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
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</a:rPr>
              <a:t>Esto significa un 59% mas de eficiencia en campanas de retencion frente a un enfoque aleatorio.</a:t>
            </a:r>
            <a:endParaRPr lang="en-US" sz="11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</a:rPr>
              <a:t>El ahorro depende del coste de retencion y del ARPU del cliente, pero en telco el ROI suele ser positivo contactando al top 20-30%.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Estudio de Ablacion: change_mou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Sospecha: change_mou podria contener informacion del futuro (leakage)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55448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el predictor #1 en SHAP. Si representara el cambio DESPUES de la decision de irse, seria data leakage. Lo verificamos entrenando el modelo sin esta variable y comparando.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514600"/>
            <a:ext cx="5029200" cy="1371600"/>
          </a:xfrm>
          <a:prstGeom prst="roundRect">
            <a:avLst>
              <a:gd name="adj" fmla="val 5333"/>
            </a:avLst>
          </a:prstGeom>
          <a:solidFill>
            <a:srgbClr val="D6EAF8"/>
          </a:solidFill>
          <a:ln/>
        </p:spPr>
        <p:txBody>
          <a:bodyPr/>
          <a:p/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651760"/>
          <a:ext cx="46634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280160"/>
                <a:gridCol w="1188720"/>
                <a:gridCol w="109728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Metrica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Con change_mou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Sin change_mou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Delta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AUC-ROC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78D4"/>
                          </a:solidFill>
                        </a:rPr>
                        <a:t>0.6986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~0.67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B4D8"/>
                          </a:solidFill>
                        </a:rPr>
                        <a:t>~3 pp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F1 Score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78D4"/>
                          </a:solidFill>
                        </a:rPr>
                        <a:t>0.6399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~0.62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B4D8"/>
                          </a:solidFill>
                        </a:rPr>
                        <a:t>~2 pp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760720" y="2514600"/>
            <a:ext cx="2926080" cy="1371600"/>
          </a:xfrm>
          <a:prstGeom prst="roundRect">
            <a:avLst>
              <a:gd name="adj" fmla="val 5333"/>
            </a:avLst>
          </a:prstGeom>
          <a:solidFill>
            <a:srgbClr val="D6EAF8"/>
          </a:solidFill>
          <a:ln/>
        </p:spPr>
        <p:txBody>
          <a:bodyPr/>
          <a:p/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265176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355080" y="26517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943600" y="30632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&lt; 5 pp: change_mou NO es leakage. Es una senal legitima de comportamiento previo al churn.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Recomendaciones de Negocio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8229600" cy="621792"/>
          </a:xfrm>
          <a:prstGeom prst="roundRect">
            <a:avLst>
              <a:gd name="adj" fmla="val 11765"/>
            </a:avLst>
          </a:prstGeom>
          <a:solidFill>
            <a:srgbClr val="D6EAF8"/>
          </a:solidFill>
          <a:ln/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97280" y="1143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Campanas de retencion focalizadas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97280" y="13990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el modelo para priorizar el top 20-30% de clientes por riesgo. Lift de 1.49x vs aleatorio.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57200" y="1810512"/>
            <a:ext cx="8229600" cy="621792"/>
          </a:xfrm>
          <a:prstGeom prst="roundRect">
            <a:avLst>
              <a:gd name="adj" fmla="val 11765"/>
            </a:avLst>
          </a:prstGeom>
          <a:solidFill>
            <a:srgbClr val="D6EAF8"/>
          </a:solidFill>
          <a:ln/>
        </p:spPr>
        <p:txBody>
          <a:bodyPr/>
          <a:p/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47672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97280" y="18562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de renovacion de equipos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1097280" y="21122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con eqpdays &gt; 365 tienen mayor churn. Ofrecer upgrade subsidiado.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57200" y="2523744"/>
            <a:ext cx="8229600" cy="621792"/>
          </a:xfrm>
          <a:prstGeom prst="roundRect">
            <a:avLst>
              <a:gd name="adj" fmla="val 11765"/>
            </a:avLst>
          </a:prstGeom>
          <a:solidFill>
            <a:srgbClr val="D6EAF8"/>
          </a:solidFill>
          <a:ln/>
        </p:spPr>
        <p:txBody>
          <a:bodyPr/>
          <a:p/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660904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097280" y="25694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de calidad de red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1097280" y="28254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call_fail_rate predice churn. Monitorizar y actuar proactivamente ante degradacion de servicio.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457200" y="3236976"/>
            <a:ext cx="8229600" cy="621792"/>
          </a:xfrm>
          <a:prstGeom prst="roundRect">
            <a:avLst>
              <a:gd name="adj" fmla="val 11765"/>
            </a:avLst>
          </a:prstGeom>
          <a:solidFill>
            <a:srgbClr val="D6EAF8"/>
          </a:solidFill>
          <a:ln/>
        </p:spPr>
        <p:txBody>
          <a:bodyPr/>
          <a:p/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374136"/>
            <a:ext cx="320040" cy="32004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097280" y="328269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reforzado para nuevos</a:t>
            </a:r>
            <a:endParaRPr lang="en-US" sz="1200" dirty="0"/>
          </a:p>
        </p:txBody>
      </p:sp>
      <p:sp>
        <p:nvSpPr>
          <p:cNvPr id="21" name="Text 15"/>
          <p:cNvSpPr/>
          <p:nvPr/>
        </p:nvSpPr>
        <p:spPr>
          <a:xfrm>
            <a:off x="1097280" y="3538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&lt; 6 meses son volatiles. Implementar programa de bienvenida con incentivos.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457200" y="3950208"/>
            <a:ext cx="8229600" cy="621792"/>
          </a:xfrm>
          <a:prstGeom prst="roundRect">
            <a:avLst>
              <a:gd name="adj" fmla="val 11765"/>
            </a:avLst>
          </a:prstGeom>
          <a:solidFill>
            <a:srgbClr val="D6EAF8"/>
          </a:solidFill>
          <a:ln/>
        </p:spPr>
        <p:txBody>
          <a:bodyPr/>
          <a:p/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087368"/>
            <a:ext cx="320040" cy="32004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097280" y="39959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semanal automatizado</a:t>
            </a:r>
            <a:endParaRPr lang="en-US" sz="1200" dirty="0"/>
          </a:p>
        </p:txBody>
      </p:sp>
      <p:sp>
        <p:nvSpPr>
          <p:cNvPr id="25" name="Text 18"/>
          <p:cNvSpPr/>
          <p:nvPr/>
        </p:nvSpPr>
        <p:spPr>
          <a:xfrm>
            <a:off x="1097280" y="4251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el pipeline periodicamente para actualizar scores y alimentar CRM.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2148840"/>
            <a:ext cx="73152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23317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del Pipeline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315468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 modulares, Airflow DAG y Docker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Airflow: DAG de 3 Tasks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74320" y="1188720"/>
            <a:ext cx="2651760" cy="2468880"/>
          </a:xfrm>
          <a:prstGeom prst="roundRect">
            <a:avLst>
              <a:gd name="adj" fmla="val 2963"/>
            </a:avLst>
          </a:prstGeom>
          <a:solidFill>
            <a:srgbClr val="D6EAF8"/>
          </a:solidFill>
          <a:ln/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32588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11480" y="18745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data_preparation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11480" y="228600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Limpieza de peculiaridades, feature engineering, encoding, split 70/15/15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1097280" y="3291840"/>
            <a:ext cx="1005840" cy="228600"/>
          </a:xfrm>
          <a:prstGeom prst="roundRect">
            <a:avLst>
              <a:gd name="adj" fmla="val 20000"/>
            </a:avLst>
          </a:prstGeom>
          <a:solidFill>
            <a:srgbClr val="F0FDF4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097280" y="329184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~16s</a:t>
            </a:r>
            <a:endParaRPr lang="en-US" sz="9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0" y="2194560"/>
            <a:ext cx="182880" cy="18288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3246120" y="1188720"/>
            <a:ext cx="2651760" cy="2468880"/>
          </a:xfrm>
          <a:prstGeom prst="roundRect">
            <a:avLst>
              <a:gd name="adj" fmla="val 2963"/>
            </a:avLst>
          </a:prstGeom>
          <a:solidFill>
            <a:srgbClr val="D6EAF8"/>
          </a:solidFill>
          <a:ln/>
        </p:spPr>
        <p:txBody>
          <a:bodyPr/>
          <a:p/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325880"/>
            <a:ext cx="457200" cy="4572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383280" y="18745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train_model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3383280" y="228600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entrenamiento, evaluacion en val set, guardado como pickle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069080" y="3291840"/>
            <a:ext cx="1005840" cy="228600"/>
          </a:xfrm>
          <a:prstGeom prst="roundRect">
            <a:avLst>
              <a:gd name="adj" fmla="val 20000"/>
            </a:avLst>
          </a:prstGeom>
          <a:solidFill>
            <a:srgbClr val="F0FDF4"/>
          </a:solidFill>
          <a:ln/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4069080" y="329184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~5s</a:t>
            </a:r>
            <a:endParaRPr lang="en-US" sz="900" dirty="0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2194560"/>
            <a:ext cx="182880" cy="18288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6217920" y="1188720"/>
            <a:ext cx="2651760" cy="2468880"/>
          </a:xfrm>
          <a:prstGeom prst="roundRect">
            <a:avLst>
              <a:gd name="adj" fmla="val 2963"/>
            </a:avLst>
          </a:prstGeom>
          <a:solidFill>
            <a:srgbClr val="D6EAF8"/>
          </a:solidFill>
          <a:ln/>
        </p:spPr>
        <p:txBody>
          <a:bodyPr/>
          <a:p/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3760" y="1325880"/>
            <a:ext cx="457200" cy="45720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355080" y="18745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evaluate_model</a:t>
            </a:r>
            <a:endParaRPr lang="en-US" sz="1100" dirty="0"/>
          </a:p>
        </p:txBody>
      </p:sp>
      <p:sp>
        <p:nvSpPr>
          <p:cNvPr id="23" name="Text 16"/>
          <p:cNvSpPr/>
          <p:nvPr/>
        </p:nvSpPr>
        <p:spPr>
          <a:xfrm>
            <a:off x="6355080" y="228600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pickle, predicciones en holdout, metricas en logs, JSON</a:t>
            </a:r>
            <a:endParaRPr lang="en-US" sz="1000" dirty="0"/>
          </a:p>
        </p:txBody>
      </p:sp>
      <p:sp>
        <p:nvSpPr>
          <p:cNvPr id="24" name="Shape 17"/>
          <p:cNvSpPr/>
          <p:nvPr/>
        </p:nvSpPr>
        <p:spPr>
          <a:xfrm>
            <a:off x="7040880" y="3291840"/>
            <a:ext cx="1005840" cy="228600"/>
          </a:xfrm>
          <a:prstGeom prst="roundRect">
            <a:avLst>
              <a:gd name="adj" fmla="val 20000"/>
            </a:avLst>
          </a:prstGeom>
          <a:solidFill>
            <a:srgbClr val="F0FDF4"/>
          </a:solidFill>
          <a:ln/>
        </p:spPr>
        <p:txBody>
          <a:bodyPr/>
          <a:p/>
        </p:txBody>
      </p:sp>
      <p:sp>
        <p:nvSpPr>
          <p:cNvPr id="25" name="Text 18"/>
          <p:cNvSpPr/>
          <p:nvPr/>
        </p:nvSpPr>
        <p:spPr>
          <a:xfrm>
            <a:off x="7040880" y="329184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~1s</a:t>
            </a:r>
            <a:endParaRPr lang="en-US" sz="900" dirty="0"/>
          </a:p>
        </p:txBody>
      </p:sp>
      <p:sp>
        <p:nvSpPr>
          <p:cNvPr id="26" name="Shape 19"/>
          <p:cNvSpPr/>
          <p:nvPr/>
        </p:nvSpPr>
        <p:spPr>
          <a:xfrm>
            <a:off x="457200" y="393192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27" name="Text 20"/>
          <p:cNvSpPr/>
          <p:nvPr/>
        </p:nvSpPr>
        <p:spPr>
          <a:xfrm>
            <a:off x="640080" y="39776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78D4"/>
                </a:solidFill>
              </a:rPr>
              <a:t>PythonOperator</a:t>
            </a:r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</a:rPr>
              <a:t xml:space="preserve"> — cada task importa y ejecuta la funcion main() del script correspondiente. Si un paso falla, el DAG se detiene.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Infraestructura: Docker Compose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57200" y="1188720"/>
            <a:ext cx="1920240" cy="54864"/>
          </a:xfrm>
          <a:prstGeom prst="rect">
            <a:avLst/>
          </a:prstGeom>
          <a:solidFill>
            <a:srgbClr val="336791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8640" y="1325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3x PostgreSQL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16916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+ churn_db + mlflow_db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560320" y="118872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2560320" y="1188720"/>
            <a:ext cx="1920240" cy="54864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651760" y="1325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Webserver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651760" y="16916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UI en :8080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63440" y="118872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4663440" y="1188720"/>
            <a:ext cx="1920240" cy="54864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754880" y="1325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Stack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0" y="16916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+ Grafana :3000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766560" y="118872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766560" y="1188720"/>
            <a:ext cx="1920240" cy="54864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858000" y="1325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MLflow 2.12.2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58000" y="16916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tracking :5000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2377440"/>
            <a:ext cx="3931920" cy="2103120"/>
          </a:xfrm>
          <a:prstGeom prst="roundRect">
            <a:avLst>
              <a:gd name="adj" fmla="val 3478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40080" y="24688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de diseno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2834640"/>
            <a:ext cx="3566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</a:rPr>
              <a:t>10 servicios Docker: Airflow (webserver, scheduler, triggerer, init), 3x PostgreSQL, MLflow, Pushgateway, Prometheus, Grafana.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</a:rPr>
              <a:t>Imagen custom con xgboost, sklearn, mlflow, etc. via Dockerfile + requirements.txt.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</a:rPr>
              <a:t>Monitoring stack: evaluate_model exporta metricas al Pushgateway, Prometheus las scrapea, Grafana las visualiza.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</a:rPr>
              <a:t>Volumenes montados: scripts/, data/, models/ y monitoring/ para desarrollo iterativo.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663440" y="2377440"/>
            <a:ext cx="4023360" cy="2103120"/>
          </a:xfrm>
          <a:prstGeom prst="roundRect">
            <a:avLst>
              <a:gd name="adj" fmla="val 3478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846320" y="2468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Comandos clave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846320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build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846320" y="31729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up airflow-init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46320" y="34655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up -d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46320" y="37581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→ Airflow :8080 | MLflow :5000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46320" y="40507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→ Grafana :3000 | Prometheus :9090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1B2A4A"/>
                </a:solidFill>
                <a:latin typeface="Calibri"/>
              </a:rPr>
              <a:t>Evidencia: Orquestacion y Experiment Tracking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>
                <a:solidFill>
                  <a:srgbClr val="0078D4"/>
                </a:solidFill>
                <a:latin typeface="Calibri"/>
              </a:rPr>
              <a:t>sdg group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9CA3AF"/>
                </a:solidFill>
                <a:latin typeface="Calibri"/>
              </a:rPr>
              <a:t>Copyright © SDG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0000"/>
            <a:ext cx="4000000" cy="3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0078D4"/>
                </a:solidFill>
                <a:latin typeface="Calibri"/>
              </a:rPr>
              <a:t>Apache Airflow — DAG con 10 runs exitosos</a:t>
            </a:r>
          </a:p>
        </p:txBody>
      </p:sp>
      <p:pic>
        <p:nvPicPr>
          <p:cNvPr id="7" name="Picture 6" descr="airflow_d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50000"/>
            <a:ext cx="4000000" cy="210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00000" y="860000"/>
            <a:ext cx="4000000" cy="3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0078D4"/>
                </a:solidFill>
                <a:latin typeface="Calibri"/>
              </a:rPr>
              <a:t>MLflow 2.12.2 — Run completado con metricas</a:t>
            </a:r>
          </a:p>
        </p:txBody>
      </p:sp>
      <p:pic>
        <p:nvPicPr>
          <p:cNvPr id="9" name="Picture 8" descr="mlflow_ru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0000" y="1150000"/>
            <a:ext cx="4000000" cy="210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3400000"/>
            <a:ext cx="8200000" cy="8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Calibri"/>
              </a:rPr>
              <a:t>Airflow ejecuta el DAG de 3 tasks (data_preparation → train_model → evaluate_model) en ~1 min 21s. MLflow registra automaticamente 41 hiperparametros y 4 metricas de validacion (val_auc_roc=0.6913, val_f1=0.6376). Cada run queda versionado para comparacion futura.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1B2A4A"/>
                </a:solidFill>
                <a:latin typeface="Calibri"/>
              </a:rPr>
              <a:t>Evidencia: Monitoreo con Prometheus y Grafana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>
                <a:solidFill>
                  <a:srgbClr val="0078D4"/>
                </a:solidFill>
                <a:latin typeface="Calibri"/>
              </a:rPr>
              <a:t>sdg group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9CA3AF"/>
                </a:solidFill>
                <a:latin typeface="Calibri"/>
              </a:rPr>
              <a:t>Copyright © SDG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0000"/>
            <a:ext cx="5400000" cy="3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0078D4"/>
                </a:solidFill>
                <a:latin typeface="Calibri"/>
              </a:rPr>
              <a:t>Grafana — Dashboard Churn Prediction Pipeline</a:t>
            </a:r>
          </a:p>
        </p:txBody>
      </p:sp>
      <p:pic>
        <p:nvPicPr>
          <p:cNvPr id="7" name="Picture 6" descr="grafana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50000"/>
            <a:ext cx="5400000" cy="280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00000" y="860000"/>
            <a:ext cx="2700000" cy="3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0078D4"/>
                </a:solidFill>
                <a:latin typeface="Calibri"/>
              </a:rPr>
              <a:t>Prometheus — Metricas en tiempo real</a:t>
            </a:r>
          </a:p>
        </p:txBody>
      </p:sp>
      <p:pic>
        <p:nvPicPr>
          <p:cNvPr id="9" name="Picture 8" descr="prometheus_que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0000" y="1150000"/>
            <a:ext cx="2700000" cy="130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00000" y="2550000"/>
            <a:ext cx="2700000" cy="14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4B5563"/>
                </a:solidFill>
                <a:latin typeface="Calibri"/>
              </a:rPr>
              <a:t>El pipeline exporta metricas al Pushgateway tras cada ejecucion. Prometheus las scrapea cada 15s. El dashboard muestra AUC-ROC, F1, confusion matrix, lift por percentil y datos del pipeline en tiempo real.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100000"/>
            <a:ext cx="8200000" cy="5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B2A4A"/>
                </a:solidFill>
                <a:latin typeface="Calibri"/>
              </a:rPr>
              <a:t>Stack completo: evaluate_model.py → metrics_exporter.py → Pushgateway (:9091) → Prometheus (:9090) → Grafana (:3000)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2148840"/>
            <a:ext cx="73152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23317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315468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Resumen, limitaciones y siguientes pasos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y Siguientes Pasos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234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hemos construido</a:t>
            </a:r>
            <a:endParaRPr lang="en-US" sz="14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91640"/>
            <a:ext cx="201168" cy="201168"/>
          </a:xfrm>
          <a:prstGeom prst="rect">
            <a:avLst/>
          </a:prstGeom>
        </p:spPr>
      </p:pic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57400"/>
            <a:ext cx="201168" cy="20116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32688" y="2011680"/>
            <a:ext cx="3383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features nuevas con logica de negocio</a:t>
            </a:r>
            <a:endParaRPr lang="en-US" sz="11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423160"/>
            <a:ext cx="201168" cy="20116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32688" y="2377440"/>
            <a:ext cx="3383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tuneado: AUC 0.70, Lift 1.59x</a:t>
            </a:r>
            <a:endParaRPr lang="en-US" sz="11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788920"/>
            <a:ext cx="201168" cy="20116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932688" y="2743200"/>
            <a:ext cx="3383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para explicabilidad por cliente</a:t>
            </a:r>
            <a:endParaRPr lang="en-US" sz="110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154680"/>
            <a:ext cx="201168" cy="201168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932688" y="3108960"/>
            <a:ext cx="3383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 Airflow + Docker (10 servicios)</a:t>
            </a:r>
            <a:endParaRPr lang="en-US" sz="11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3520440"/>
            <a:ext cx="201168" cy="20116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932688" y="3474720"/>
            <a:ext cx="3383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+ MLflow: persistencia y tracking</a:t>
            </a:r>
            <a:endParaRPr lang="en-US" sz="1100" dirty="0"/>
          </a:p>
        </p:txBody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3886200"/>
            <a:ext cx="201168" cy="201168"/>
          </a:xfrm>
          <a:prstGeom prst="rect">
            <a:avLst/>
          </a:prstGeom>
        </p:spPr>
      </p:pic>
      <p:sp>
        <p:nvSpPr>
          <p:cNvPr id="22" name="Shape 13"/>
          <p:cNvSpPr/>
          <p:nvPr/>
        </p:nvSpPr>
        <p:spPr>
          <a:xfrm>
            <a:off x="4754880" y="1143000"/>
            <a:ext cx="3931920" cy="3291840"/>
          </a:xfrm>
          <a:prstGeom prst="roundRect">
            <a:avLst>
              <a:gd name="adj" fmla="val 2222"/>
            </a:avLst>
          </a:prstGeom>
          <a:solidFill>
            <a:srgbClr val="D6EAF8"/>
          </a:solidFill>
          <a:ln/>
        </p:spPr>
        <p:txBody>
          <a:bodyPr/>
          <a:p/>
        </p:txBody>
      </p:sp>
      <p:sp>
        <p:nvSpPr>
          <p:cNvPr id="23" name="Text 14"/>
          <p:cNvSpPr/>
          <p:nvPr/>
        </p:nvSpPr>
        <p:spPr>
          <a:xfrm>
            <a:off x="4937760" y="12344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Siguientes pasos</a:t>
            </a:r>
            <a:endParaRPr lang="en-US" sz="1400" dirty="0"/>
          </a:p>
        </p:txBody>
      </p:sp>
      <p:sp>
        <p:nvSpPr>
          <p:cNvPr id="24" name="Text 15"/>
          <p:cNvSpPr/>
          <p:nvPr/>
        </p:nvSpPr>
        <p:spPr>
          <a:xfrm>
            <a:off x="4937760" y="1645920"/>
            <a:ext cx="3566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Feature store para centralizar features reutilizables entre modelos.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A/B testing para validar impacto real de las campanas de retencion.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Datos reales desbalanceados: adaptar con SMOTE/class_weight (~2%).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Alertas automaticas en Grafana (umbrales de AUC, drift detection).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CI/CD para reentrenamiento automatico con datos frescos.</a:t>
            </a:r>
            <a:endParaRPr lang="en-US" sz="1050" dirty="0"/>
          </a:p>
        </p:txBody>
      </p:sp>
      <p:sp>
        <p:nvSpPr>
          <p:cNvPr id="50" name="Text 49"/>
          <p:cNvSpPr/>
          <p:nvPr/>
        </p:nvSpPr>
        <p:spPr>
          <a:xfrm>
            <a:off x="932688" y="3840480"/>
            <a:ext cx="3383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+ Grafana: monitoreo en vivo</a:t>
            </a:r>
            <a:endParaRPr lang="en-US" sz="1100" dirty="0"/>
          </a:p>
        </p:txBody>
      </p:sp>
      <p:pic>
        <p:nvPicPr>
          <p:cNvPr id="51" name="Picture 50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3840480"/>
            <a:ext cx="201168" cy="20116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932688" y="1645920"/>
            <a:ext cx="3383280" cy="3017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>
                <a:solidFill>
                  <a:srgbClr val="4B5563"/>
                </a:solidFill>
                <a:latin typeface="Calibri"/>
              </a:rPr>
              <a:t>EDA profundo + 13 peculiaridades detectadas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078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group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0" y="137160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3840480" y="2377440"/>
            <a:ext cx="1463040" cy="3657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0" y="2606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y Respuestas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0" y="36576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Miguel Ángel Montero  |  ma2montero@gmail.com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SDG Group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828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</a:rPr>
              <a:t>Radiografia del Dataset</a:t>
            </a:r>
          </a:p>
        </p:txBody>
      </p:sp>
      <p:sp>
        <p:nvSpPr>
          <p:cNvPr id="3" name="AccentBar"/>
          <p:cNvSpPr/>
          <p:nvPr/>
        </p:nvSpPr>
        <p:spPr>
          <a:xfrm>
            <a:off x="457200" y="731520"/>
            <a:ext cx="1097280" cy="36576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p/>
        </p:txBody>
      </p:sp>
      <p:sp>
        <p:nvSpPr>
          <p:cNvPr id="4" name="SDG"/>
          <p:cNvSpPr/>
          <p:nvPr/>
        </p:nvSpPr>
        <p:spPr>
          <a:xfrm>
            <a:off x="7315200" y="137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sdg group</a:t>
            </a:r>
          </a:p>
        </p:txBody>
      </p:sp>
      <p:sp>
        <p:nvSpPr>
          <p:cNvPr id="5" name="Copyright"/>
          <p:cNvSpPr/>
          <p:nvPr/>
        </p:nvSpPr>
        <p:spPr>
          <a:xfrm>
            <a:off x="274320" y="4709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</a:rPr>
              <a:t>Copyright © SDG Group</a:t>
            </a:r>
          </a:p>
        </p:txBody>
      </p:sp>
      <p:sp>
        <p:nvSpPr>
          <p:cNvPr id="10" name="S1Bg"/>
          <p:cNvSpPr/>
          <p:nvPr/>
        </p:nvSpPr>
        <p:spPr>
          <a:xfrm>
            <a:off x="457200" y="914400"/>
            <a:ext cx="2560320" cy="731520"/>
          </a:xfrm>
          <a:prstGeom prst="roundRect">
            <a:avLst>
              <a:gd name="adj" fmla="val 8000"/>
            </a:avLst>
          </a:prstGeom>
          <a:solidFill>
            <a:srgbClr val="EBF5FB"/>
          </a:solidFill>
          <a:ln>
            <a:noFill/>
          </a:ln>
        </p:spPr>
        <p:txBody>
          <a:bodyPr/>
          <a:p/>
        </p:txBody>
      </p:sp>
      <p:sp>
        <p:nvSpPr>
          <p:cNvPr id="11" name="S1Num"/>
          <p:cNvSpPr/>
          <p:nvPr/>
        </p:nvSpPr>
        <p:spPr>
          <a:xfrm>
            <a:off x="457200" y="9372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78D4"/>
                </a:solidFill>
                <a:latin typeface="Calibri" pitchFamily="34" charset="0"/>
              </a:rPr>
              <a:t>100K x 100</a:t>
            </a:r>
          </a:p>
        </p:txBody>
      </p:sp>
      <p:sp>
        <p:nvSpPr>
          <p:cNvPr id="12" name="S1Lbl"/>
          <p:cNvSpPr/>
          <p:nvPr/>
        </p:nvSpPr>
        <p:spPr>
          <a:xfrm>
            <a:off x="457200" y="13487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</a:rPr>
              <a:t>69 float + 10 int + 21 categoricas</a:t>
            </a:r>
          </a:p>
        </p:txBody>
      </p:sp>
      <p:sp>
        <p:nvSpPr>
          <p:cNvPr id="13" name="S2Bg"/>
          <p:cNvSpPr/>
          <p:nvPr/>
        </p:nvSpPr>
        <p:spPr>
          <a:xfrm>
            <a:off x="3291840" y="914400"/>
            <a:ext cx="2560320" cy="73152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>
            <a:noFill/>
          </a:ln>
        </p:spPr>
        <p:txBody>
          <a:bodyPr/>
          <a:p/>
        </p:txBody>
      </p:sp>
      <p:sp>
        <p:nvSpPr>
          <p:cNvPr id="14" name="S2Num"/>
          <p:cNvSpPr/>
          <p:nvPr/>
        </p:nvSpPr>
        <p:spPr>
          <a:xfrm>
            <a:off x="3291840" y="9372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97706"/>
                </a:solidFill>
                <a:latin typeface="Calibri" pitchFamily="34" charset="0"/>
              </a:rPr>
              <a:t>43 cols con nulos</a:t>
            </a:r>
          </a:p>
        </p:txBody>
      </p:sp>
      <p:sp>
        <p:nvSpPr>
          <p:cNvPr id="15" name="S2Lbl"/>
          <p:cNvSpPr/>
          <p:nvPr/>
        </p:nvSpPr>
        <p:spPr>
          <a:xfrm>
            <a:off x="3291840" y="13487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</a:rPr>
              <a:t>Hasta 49% missing + nulos ocultos (U, Z)</a:t>
            </a:r>
          </a:p>
        </p:txBody>
      </p:sp>
      <p:sp>
        <p:nvSpPr>
          <p:cNvPr id="16" name="S3Bg"/>
          <p:cNvSpPr/>
          <p:nvPr/>
        </p:nvSpPr>
        <p:spPr>
          <a:xfrm>
            <a:off x="6126480" y="914400"/>
            <a:ext cx="2560320" cy="731520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>
            <a:noFill/>
          </a:ln>
        </p:spPr>
        <p:txBody>
          <a:bodyPr/>
          <a:p/>
        </p:txBody>
      </p:sp>
      <p:sp>
        <p:nvSpPr>
          <p:cNvPr id="17" name="S3Num"/>
          <p:cNvSpPr/>
          <p:nvPr/>
        </p:nvSpPr>
        <p:spPr>
          <a:xfrm>
            <a:off x="6126480" y="9372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59669"/>
                </a:solidFill>
                <a:latin typeface="Calibri" pitchFamily="34" charset="0"/>
              </a:rPr>
              <a:t>50.4 / 49.6%</a:t>
            </a:r>
          </a:p>
        </p:txBody>
      </p:sp>
      <p:sp>
        <p:nvSpPr>
          <p:cNvPr id="18" name="S3Lbl"/>
          <p:cNvSpPr/>
          <p:nvPr/>
        </p:nvSpPr>
        <p:spPr>
          <a:xfrm>
            <a:off x="6126480" y="13487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</a:rPr>
              <a:t>No Churn / Churn (balance artificial)</a:t>
            </a:r>
          </a:p>
        </p:txBody>
      </p:sp>
      <p:sp>
        <p:nvSpPr>
          <p:cNvPr id="20" name="LBg"/>
          <p:cNvSpPr/>
          <p:nvPr/>
        </p:nvSpPr>
        <p:spPr>
          <a:xfrm>
            <a:off x="457200" y="1828800"/>
            <a:ext cx="4023360" cy="274320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</p:spPr>
        <p:txBody>
          <a:bodyPr/>
          <a:p/>
        </p:txBody>
      </p:sp>
      <p:sp>
        <p:nvSpPr>
          <p:cNvPr id="21" name="LTitle"/>
          <p:cNvSpPr/>
          <p:nvPr/>
        </p:nvSpPr>
        <p:spPr>
          <a:xfrm>
            <a:off x="594360" y="19050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</a:rPr>
              <a:t>Composicion de variables</a:t>
            </a:r>
          </a:p>
        </p:txBody>
      </p:sp>
      <p:sp>
        <p:nvSpPr>
          <p:cNvPr id="22" name="LContent"/>
          <p:cNvSpPr/>
          <p:nvPr/>
        </p:nvSpPr>
        <p:spPr>
          <a:xfrm>
            <a:off x="594360" y="224028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buChar char="■"/>
            </a:pPr>
            <a:r>
              <a:rPr lang="en-US" sz="1100" b="1" dirty="0">
                <a:solidFill>
                  <a:srgbClr val="0078D4"/>
                </a:solidFill>
                <a:latin typeface="Calibri" pitchFamily="34" charset="0"/>
              </a:rPr>
              <a:t>69 numericas continuas (float64)</a:t>
            </a:r>
          </a:p>
          <a:p>
            <a:pPr marL="45720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</a:rPr>
              <a:t>rev_Mean, mou_Mean, totmrc_Mean, change_mou...</a:t>
            </a:r>
          </a:p>
          <a:p>
            <a:pPr marL="228600" indent="-228600">
              <a:buChar char="■"/>
            </a:pPr>
            <a:r>
              <a:rPr lang="en-US" sz="1100" b="1" dirty="0">
                <a:solidFill>
                  <a:srgbClr val="059669"/>
                </a:solidFill>
                <a:latin typeface="Calibri" pitchFamily="34" charset="0"/>
              </a:rPr>
              <a:t>10 numericas enteras (int64)</a:t>
            </a:r>
          </a:p>
          <a:p>
            <a:pPr marL="45720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</a:rPr>
              <a:t>months, uniqsubs, actvsubs, eqpdays, churn...</a:t>
            </a:r>
          </a:p>
          <a:p>
            <a:pPr marL="228600" indent="-228600">
              <a:buChar char="■"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</a:rPr>
              <a:t>21 categoricas (object)</a:t>
            </a:r>
          </a:p>
          <a:p>
            <a:pPr marL="45720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</a:rPr>
              <a:t>area (19 vals), crclscod (54 vals), ethnic, marital...</a:t>
            </a:r>
          </a:p>
          <a:p>
            <a:pPr indent="0" marL="0">
              <a:buNone/>
            </a:pPr>
            <a:r>
              <a:rPr lang="en-US" sz="500" dirty="0">
                <a:solidFill>
                  <a:srgbClr val="FFFFFF"/>
                </a:solidFill>
              </a:rPr>
              <a:t xml:space="preserve"> </a:t>
            </a:r>
          </a:p>
          <a:p>
            <a:pPr marL="228600" indent="-228600">
              <a:buChar char="■"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</a:rPr>
              <a:t xml:space="preserve">Nulos ocultos: </a:t>
            </a:r>
            <a:r>
              <a:rPr lang="en-US" sz="1100" dirty="0">
                <a:solidFill>
                  <a:srgbClr val="4B5563"/>
                </a:solidFill>
                <a:latin typeface="Calibri" pitchFamily="34" charset="0"/>
              </a:rPr>
              <a:t>“U” y “Z” como valores en vez de NaN</a:t>
            </a:r>
          </a:p>
          <a:p>
            <a:pPr marL="228600" indent="-228600">
              <a:buChar char="■"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</a:rPr>
              <a:t xml:space="preserve">0 duplicados </a:t>
            </a:r>
            <a:r>
              <a:rPr lang="en-US" sz="1100" dirty="0">
                <a:solidFill>
                  <a:srgbClr val="4B5563"/>
                </a:solidFill>
                <a:latin typeface="Calibri" pitchFamily="34" charset="0"/>
              </a:rPr>
              <a:t>(Customer_ID unico por fila)</a:t>
            </a:r>
          </a:p>
        </p:txBody>
      </p:sp>
      <p:sp>
        <p:nvSpPr>
          <p:cNvPr id="30" name="RBg"/>
          <p:cNvSpPr/>
          <p:nvPr/>
        </p:nvSpPr>
        <p:spPr>
          <a:xfrm>
            <a:off x="4663440" y="1828800"/>
            <a:ext cx="4023360" cy="274320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</p:spPr>
        <p:txBody>
          <a:bodyPr/>
          <a:p/>
        </p:txBody>
      </p:sp>
      <p:sp>
        <p:nvSpPr>
          <p:cNvPr id="31" name="RTitle"/>
          <p:cNvSpPr/>
          <p:nvPr/>
        </p:nvSpPr>
        <p:spPr>
          <a:xfrm>
            <a:off x="4800600" y="19050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</a:rPr>
              <a:t>Top correlaciones con Churn</a:t>
            </a:r>
          </a:p>
        </p:txBody>
      </p:sp>
      <p:sp>
        <p:nvSpPr>
          <p:cNvPr id="32" name="RContent"/>
          <p:cNvSpPr/>
          <p:nvPr/>
        </p:nvSpPr>
        <p:spPr>
          <a:xfrm>
            <a:off x="4800600" y="224028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</a:rPr>
              <a:t>Correlaciones lineales bajas (max |r|=0.11). XGBoost captura relaciones no lineales que Pearson no ve.</a:t>
            </a:r>
          </a:p>
          <a:p>
            <a:pPr indent="0" marL="0">
              <a:buNone/>
            </a:pPr>
            <a:r>
              <a:rPr lang="en-US" sz="500" dirty="0">
                <a:solidFill>
                  <a:srgbClr val="FFFFFF"/>
                </a:solidFill>
              </a:rPr>
              <a:t xml:space="preserve"> </a:t>
            </a:r>
          </a:p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Consolas" pitchFamily="34" charset="0"/>
              </a:rPr>
              <a:t xml:space="preserve">↑ eqpdays        </a:t>
            </a:r>
            <a:r>
              <a:rPr lang="en-US" sz="1100" dirty="0">
                <a:solidFill>
                  <a:srgbClr val="4B5563"/>
                </a:solidFill>
                <a:latin typeface="Calibri" pitchFamily="34" charset="0"/>
              </a:rPr>
              <a:t>r = +0.113  (equipo antiguo)</a:t>
            </a:r>
          </a:p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Consolas" pitchFamily="34" charset="0"/>
              </a:rPr>
              <a:t xml:space="preserve">↓ hnd_price       </a:t>
            </a:r>
            <a:r>
              <a:rPr lang="en-US" sz="1100" dirty="0">
                <a:solidFill>
                  <a:srgbClr val="4B5563"/>
                </a:solidFill>
                <a:latin typeface="Calibri" pitchFamily="34" charset="0"/>
              </a:rPr>
              <a:t>r = -0.103  (telefono barato)</a:t>
            </a:r>
          </a:p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Consolas" pitchFamily="34" charset="0"/>
              </a:rPr>
              <a:t xml:space="preserve">↓ totmrc_Mean     </a:t>
            </a:r>
            <a:r>
              <a:rPr lang="en-US" sz="1100" dirty="0">
                <a:solidFill>
                  <a:srgbClr val="4B5563"/>
                </a:solidFill>
                <a:latin typeface="Calibri" pitchFamily="34" charset="0"/>
              </a:rPr>
              <a:t>r = -0.069  (factura baja)</a:t>
            </a:r>
          </a:p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Consolas" pitchFamily="34" charset="0"/>
              </a:rPr>
              <a:t xml:space="preserve">↓ mou_Mean        </a:t>
            </a:r>
            <a:r>
              <a:rPr lang="en-US" sz="1100" dirty="0">
                <a:solidFill>
                  <a:srgbClr val="4B5563"/>
                </a:solidFill>
                <a:latin typeface="Calibri" pitchFamily="34" charset="0"/>
              </a:rPr>
              <a:t>r = -0.057  (poco uso)</a:t>
            </a:r>
          </a:p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Consolas" pitchFamily="34" charset="0"/>
              </a:rPr>
              <a:t xml:space="preserve">↓ complete_Mean   </a:t>
            </a:r>
            <a:r>
              <a:rPr lang="en-US" sz="1100" dirty="0">
                <a:solidFill>
                  <a:srgbClr val="4B5563"/>
                </a:solidFill>
                <a:latin typeface="Calibri" pitchFamily="34" charset="0"/>
              </a:rPr>
              <a:t>r = -0.052  (pocas llamadas)</a:t>
            </a:r>
          </a:p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Consolas" pitchFamily="34" charset="0"/>
              </a:rPr>
              <a:t xml:space="preserve">↓ models          </a:t>
            </a:r>
            <a:r>
              <a:rPr lang="en-US" sz="1100" dirty="0">
                <a:solidFill>
                  <a:srgbClr val="4B5563"/>
                </a:solidFill>
                <a:latin typeface="Calibri" pitchFamily="34" charset="0"/>
              </a:rPr>
              <a:t>r = -0.045  (pocos modelos tel.)</a:t>
            </a:r>
          </a:p>
          <a:p>
            <a:pPr indent="0" marL="0">
              <a:buNone/>
            </a:pPr>
            <a:r>
              <a:rPr lang="en-US" sz="500" dirty="0">
                <a:solidFill>
                  <a:srgbClr val="FFFFFF"/>
                </a:solidFill>
              </a:rPr>
              <a:t xml:space="preserve"> </a:t>
            </a:r>
          </a:p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</a:rPr>
              <a:t>Perfil churner: equipo viejo, gama baja, poco uso.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Churn Prediction — Prueba Tecnica SDG Group</dc:title>
  <dc:subject>PptxGenJS Presentation</dc:subject>
  <dc:creator>Tomas Montero</dc:creator>
  <cp:lastModifiedBy>Tomas Montero</cp:lastModifiedBy>
  <cp:revision>1</cp:revision>
  <dcterms:created xsi:type="dcterms:W3CDTF">2026-04-22T22:06:21Z</dcterms:created>
  <dcterms:modified xsi:type="dcterms:W3CDTF">2026-04-22T22:06:21Z</dcterms:modified>
</cp:coreProperties>
</file>