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Logistic Reg.</c:v>
                  </c:pt>
                  <c:pt idx="1">
                    <c:v>Decision Tree</c:v>
                  </c:pt>
                  <c:pt idx="2">
                    <c:v>Random Forest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0.626</c:v>
                </c:pt>
                <c:pt idx="1">
                  <c:v>0.638</c:v>
                </c:pt>
                <c:pt idx="2">
                  <c:v>0.671</c:v>
                </c:pt>
                <c:pt idx="3">
                  <c:v>0.694</c:v>
                </c:pt>
                <c:pt idx="4">
                  <c:v>0.694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937"/>
                </a:solidFill>
                <a:latin typeface="Arial"/>
              </a:rPr>
              <a:t>Lift vs % de clientes contactados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0078D4"/>
            </a:solidFill>
            <a:ln w="38100" cap="flat">
              <a:solidFill>
                <a:srgbClr val="0078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8D4"/>
              </a:solidFill>
              <a:ln w="9525" cap="flat">
                <a:solidFill>
                  <a:srgbClr val="0078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1.67</c:v>
                </c:pt>
                <c:pt idx="1">
                  <c:v>1.59</c:v>
                </c:pt>
                <c:pt idx="2">
                  <c:v>1.54</c:v>
                </c:pt>
                <c:pt idx="3">
                  <c:v>1.49</c:v>
                </c:pt>
                <c:pt idx="4">
                  <c:v>1.44</c:v>
                </c:pt>
                <c:pt idx="5">
                  <c:v>1.41</c:v>
                </c:pt>
                <c:pt idx="6">
                  <c:v>1.35</c:v>
                </c:pt>
                <c:pt idx="7">
                  <c:v>1.29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solidFill>
              <a:srgbClr val="9CA3AF"/>
            </a:solidFill>
            <a:ln w="381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.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9144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 de Churn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Telecomunicaciones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Tecnica — Data Scientist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Montero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" y="178308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" y="233172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" y="288036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2104" y="342900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2104" y="397764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1234440" y="3566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siguientes pasos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el churn en telecomunicaciones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Churn en Telecomunicaciones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Captar un nuevo cliente cuesta 5-7x mas que retener uno existente.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En telecomunicaciones, el churn mensual tipico oscila entre el 1-3%. Identificar clientes en riesgo ANTES de que se vayan permite intervenir con ofertas de retencion dirigidas.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Objetivo: construir un modelo predictivo que identifique a los clientes con mayor probabilidad de abandonar, permitiendo priorizar acciones de retencion.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188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0" y="11887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0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30352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el dataset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2331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0" y="2331720"/>
            <a:ext cx="73152" cy="960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3474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0" y="3474720"/>
            <a:ext cx="73152" cy="9601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30352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churn/no-churn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clave, trampas y feature engineering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Hallazgos Principales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artificial 50/50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esta balanceado artificialmente. Poco realista (churn real ~1-3%), pero elimina la necesidad de tecnicas de oversampling.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 ('U', 'Z')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kid0_2 a kid16_17 usan 'U' como null (&gt;90%). Otros campos usan 'Z'. Reemplazados por NaN antes de cualquier analisis.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156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Multicolinealidad extrema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variables con correlacion r=1.000 (p.ej. rev_Mean/totrev). Eliminamos la de menor correlacion con churn (umbral: r&gt;0.98).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75488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en eqpdays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93776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antiguedad del equipo con valores negativos (fisicamente imposible). Convertidos a NaN e imputados con la mediana.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Trampas Detectadas en el Dataset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54864" cy="5943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25272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52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133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 ordenado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91640" y="1389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correlacionados con churn. No se usa como feature para evitar data leakage.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10512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1810512"/>
            <a:ext cx="54864" cy="5943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196596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69164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casi nula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9164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&gt;99% del mismo valor eliminadas: no aportan informacion discriminativa.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523744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523744"/>
            <a:ext cx="54864" cy="5943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6791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679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91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Dummies sin senal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28163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con churn rate identico en 0 y 1 (diferencia &lt; 1%). Eliminadas.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3236976"/>
            <a:ext cx="54864" cy="5943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3392424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392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916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change_mou: leakage?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35295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uso sospechoso. Estudio de ablacion confirmo que NO es leakage (delta AUC &lt; 5 pp).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3950208"/>
            <a:ext cx="54864" cy="5943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410565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69164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&gt;85% nulos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91640" y="424281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Eliminadas directamente. Imputar mas del 85% seria inventar datos.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8 Variables Nuevas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4630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rev_per_minute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minuto de uso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mou_Mean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865376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186537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5176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fallos de llamadas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 + blck) / intentos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67712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2677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care_intensity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5176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contacto soporte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custcare / mou_Mean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old_device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5176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antiguo (&gt;1 ano)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 &gt; 365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72384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0723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usage_drop_severe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65176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Caida severa de uso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 &lt; -50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34747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rev_vs_avg3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5176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Facturacion vs media historica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66928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avg3rev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77056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8770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new_customer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65176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nuevo (&lt; 6 meses)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&lt;= 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" y="42793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5176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engagement compuesto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66928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rank(mou + comp + recv) / 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variables interpretables para el negocio, derivadas de patrones encontrados en el EDA.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Seleccion, entrenamiento, evaluacion e interpretabilidad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Preprocesamiento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trampas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camuflados, negativos, multicolinealidad, varianza nula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148840"/>
            <a:ext cx="137160" cy="137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29968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8608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4" name="Text 11"/>
          <p:cNvSpPr/>
          <p:nvPr/>
        </p:nvSpPr>
        <p:spPr>
          <a:xfrm>
            <a:off x="25786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121408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121408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variables nuevas con logica de negocio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48840"/>
            <a:ext cx="137160" cy="13716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785616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19" name="Shape 15"/>
          <p:cNvSpPr/>
          <p:nvPr/>
        </p:nvSpPr>
        <p:spPr>
          <a:xfrm>
            <a:off x="4334256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0" name="Text 16"/>
          <p:cNvSpPr/>
          <p:nvPr/>
        </p:nvSpPr>
        <p:spPr>
          <a:xfrm>
            <a:off x="433425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877056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877056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convertidas a numerico</a:t>
            </a:r>
            <a:endParaRPr lang="en-US" sz="9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2148840"/>
            <a:ext cx="137160" cy="13716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41264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25" name="Shape 20"/>
          <p:cNvSpPr/>
          <p:nvPr/>
        </p:nvSpPr>
        <p:spPr>
          <a:xfrm>
            <a:off x="6089904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6" name="Text 21"/>
          <p:cNvSpPr/>
          <p:nvPr/>
        </p:nvSpPr>
        <p:spPr>
          <a:xfrm>
            <a:off x="6089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5632704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mediana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632704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numericos rellenados con la mediana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148840"/>
            <a:ext cx="137160" cy="1371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296912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31" name="Shape 25"/>
          <p:cNvSpPr/>
          <p:nvPr/>
        </p:nvSpPr>
        <p:spPr>
          <a:xfrm>
            <a:off x="7845552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32" name="Text 26"/>
          <p:cNvSpPr/>
          <p:nvPr/>
        </p:nvSpPr>
        <p:spPr>
          <a:xfrm>
            <a:off x="78455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88352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70/15/15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388352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 estratificado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100K filas x 88 columnas limpias, sin leakage, listas para modelar.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Benchmarking: 5 Modelos Evaluados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09728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9728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D6EAF8"/>
          </a:solidFill>
          <a:ln/>
        </p:spPr>
      </p:sp>
      <p:sp>
        <p:nvSpPr>
          <p:cNvPr id="8" name="Shape 5"/>
          <p:cNvSpPr/>
          <p:nvPr/>
        </p:nvSpPr>
        <p:spPr>
          <a:xfrm>
            <a:off x="5760720" y="1097280"/>
            <a:ext cx="54864" cy="3291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59893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XGBoost?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89320" y="164592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Empata con LightGBM en AUC-ROC (0.694) pero ofrece: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Regularizacion L1/L2 nativa que controla overfitting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Mejor soporte de SHAP (TreeExplainer optimizado)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Ecosistema maduro y well-documented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Tuning mas controlable via scale_pos_weight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Logistic Regression se mantiene como baseline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Tuning: RandomizedSearchCV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4592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RandomizedSearchCV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91109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17627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3-fold estratificado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44144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objetivo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244144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270662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270662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6, 7, 8]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297180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[0.01, 0.05, 0.1, 0.15]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23697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0" y="323697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[200, 300, 500]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50215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0" y="350215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[0.7, 0.8, 0.9]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colsample_bytree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376732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[0.6, 0.7, 0.8, 0.9]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03250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286000" y="403250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0.01, 0.1, 0.5]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29768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reg_lambda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0" y="429768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[0.5, 1.0, 2.0, 5.0]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 configuracion?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RandomizedSearch vs GridSearch: con 11 hiperparametros, el grid completo seria intratable. 30 iteraciones aleatorias cubren el espacio de forma eficiente.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3-fold: equilibrio entre robustez estadistica y tiempo de computo. Con 100K filas, cada fold tiene ~67K muestras.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AUC-ROC como metrica: es threshold-independent, lo que permite optimizar sin comprometerse a un punto de corte fijo.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Regularizacion (alpha, lambda): controla overfitting en un dataset con 88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Finales en Test Set (Holdout)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43000"/>
            <a:ext cx="196596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1143000"/>
            <a:ext cx="196596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1460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143000"/>
            <a:ext cx="19659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12280" y="1143000"/>
            <a:ext cx="19659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1228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0.6382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1228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65176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4,863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2,703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2,665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4,769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4846320" y="2651760"/>
            <a:ext cx="384048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029200" y="31089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 0.70 indica capacidad discriminativa moderada-buena. Dado un dataset con 100 features ruidosas y trampas, es un resultado solido.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Recall 64.2%: de cada 100 churners reales, identificamos ~64.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El threshold de 0.50 se puede ajustar segun el coste de FP vs FN del negocio.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las Metricas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bajo la curva ROC. Mide la capacidad del modelo de separar las dos clases independientemente del threshold.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148132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metrica principal porque no depende de un punto de corte arbitrario.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6596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039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20116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que predecimos como churn, que % realmente lo son.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11680" y="235000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precision = menos falsos positivos = menos gasto en retencion de clientes que no iban a irse.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3464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11680" y="28803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churners reales, que % identificamos.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recall = detectamos mas churners = menos ingresos perdidos por clientes no identificados.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370332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776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11680" y="37490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armonica de Precision y Recall.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011680" y="408736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 ambas metricas. Util cuando el coste de FP y FN es similar.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Interpretabilidad del Modelo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38912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(SHAP Values)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32004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8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28803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9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mou_Mean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25603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3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22402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7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19202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1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6002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roam_Mean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291840"/>
            <a:ext cx="12801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9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avg3mou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566160"/>
            <a:ext cx="9601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3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7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totrev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3200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1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10972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</p:sp>
      <p:sp>
        <p:nvSpPr>
          <p:cNvPr id="29" name="Text 27"/>
          <p:cNvSpPr/>
          <p:nvPr/>
        </p:nvSpPr>
        <p:spPr>
          <a:xfrm>
            <a:off x="5303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 clave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0" y="160020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change_mou (cambio en minutos de uso) es el predictor mas fuerte: una caida en el uso es la senal mas clara de abandono.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mou_Mean y eqpdays: clientes con poco uso y equipos viejos tienen mayor riesgo.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months: clientes nuevos (&lt;6 meses) son mas volatiles.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call_fail_rate (feature nueva): la calidad de servicio impacta directamente en churn.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</a:rPr>
              <a:t>SHAP nos da explicaciones por cliente, no solo globales.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analisis de threshold y recomendaciones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Lift: Impacto en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577840" y="1097280"/>
            <a:ext cx="3200400" cy="3200400"/>
          </a:xfrm>
          <a:prstGeom prst="roundRect">
            <a:avLst>
              <a:gd name="adj" fmla="val 2286"/>
            </a:avLst>
          </a:prstGeom>
          <a:solidFill>
            <a:srgbClr val="D6EAF8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0" y="1097280"/>
            <a:ext cx="54864" cy="32004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580644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practico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06440" y="155448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Contactando solo al top 10% de clientes por riesgo, capturamos ~16% de los churners.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78D4"/>
                </a:solidFill>
              </a:rPr>
              <a:t>Lift de 1.59x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vs contactar al azar.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Esto significa un 59% mas de eficiencia en campanas de retencion frente a un enfoque aleatorio.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El ahorro depende del coste de retencion y del ARPU del cliente, pero en telco el ROI suele ser positivo contactando al top 20-30%.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Ablacion: change_mou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Sospecha: change_mou podria contener informacion del futuro (leakage)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predictor #1 en SHAP. Si representara el cambio DESPUES de la decision de irse, seria trampa. Lo verificamos entrenando el modelo sin esta variable y comparando.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1887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AUC-ROC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0.6986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~3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F1 Score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0.6399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~2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760720" y="2514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517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4360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&lt; 5 pp: change_mou NO es leakage. Es una senal legitima de comportamiento previo al churn.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de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Campanas de retencion focalizadas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1399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modelo para priorizar el top 20-30% de clientes por riesgo. Lift de 1.49x vs aleatorio.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1810512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1856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renovacion de equipos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97280" y="21122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eqpdays &gt; 365 tienen mayor churn. Ofrecer upgrade subsidiado.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523744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6090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calidad de red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280" y="2825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call_fail_rate predice churn. Monitorizar y actuar proactivamente ante degradacion de servicio.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57200" y="3236976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74136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3282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reforzado para nuevos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097280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&lt; 6 meses son volatiles. Implementar programa de bienvenida con incentivos.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57200" y="3950208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87368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97280" y="3995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semanal automatizado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109728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pipeline periodicamente para actualizar scores y alimentar CRM.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modulares, Airflow DAG y Docker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Airflow: DAG de 3 Tasks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25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data_preparation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trampas, feature engineering, encoding, split 70/15/15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11" name="Text 8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~16s</a:t>
            </a:r>
            <a:endParaRPr lang="en-US" sz="9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19456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461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832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3832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entrenamiento, evaluacion en val set, guardado como pickle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0690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18" name="Text 13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~5s</a:t>
            </a:r>
            <a:endParaRPr lang="en-US" sz="9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194560"/>
            <a:ext cx="182880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2179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3258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550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evaluate_model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3550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pickle, predicciones en holdout, metricas en logs, JSON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70408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25" name="Text 18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~1s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D6EAF8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PythonOperator</a:t>
            </a:r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 — cada task importa y ejecuta la funcion main() del script correspondiente. Si un paso falla, el DAG se detiene.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Infraestructura: Docker Compose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33679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de Airflow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34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en localhost:8080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DAGs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Text 18"/>
          <p:cNvSpPr/>
          <p:nvPr/>
        </p:nvSpPr>
        <p:spPr>
          <a:xfrm>
            <a:off x="7406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06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Deferrable ops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diseno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28346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LocalExecutor: suficiente para 1 DAG secuencial. No necesitamos Celery + Redis.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Imagen custom: la base de Airflow no incluye xgboost, sklearn, etc. El Dockerfile instala requirements.txt.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Volumenes montados: scripts/, data/ y models/ se montan en el contenedor. Facilita el desarrollo iterativo.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Variables de entorno: rutas configurables (CHURN_DATA_DIR, etc.) para flexibilidad.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clave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build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airflow-init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465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758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http://localhost:8080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user: airflow / pass: airflow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Resumen, limitaciones y siguientes pasos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Siguientes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hemos construido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16459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profundo con deteccion de 13+ trampas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2688" y="20116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 nuevas con logica de negocio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237744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tuneado: AUC 0.70, Lift 1.59x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2688" y="274320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para explicabilidad por cliente</a:t>
            </a:r>
            <a:endParaRPr lang="en-US" sz="11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scripts modulares y testeados</a:t>
            </a:r>
            <a:endParaRPr lang="en-US" sz="11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52044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32688" y="34747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 + Docker listo para deploy</a:t>
            </a:r>
            <a:endParaRPr lang="en-US" sz="11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886200"/>
            <a:ext cx="201168" cy="20116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32688" y="38404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 (no-leakage)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</p:sp>
      <p:sp>
        <p:nvSpPr>
          <p:cNvPr id="23" name="Text 14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MLflow para experiment tracking — versionar modelos, comparar runs, registro de artefactos.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PostgreSQL para persistencia de datos procesados en vez de CSVs.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Prometheus + Grafana para monitorizar drift del modelo y metricas en produccion.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Feature store para centralizar features reutilizables entre modelos.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A/B testing para validar impacto real de las campanas de retencion.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Datos reales desbalanceados: adaptar con SMOTE/class_weight para churn real (~2%).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3840480" y="2377440"/>
            <a:ext cx="14630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Respuestas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Montero  |  ma2montero@gmail.com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— Prueba Tecnica SDG Group</dc:title>
  <dc:subject>PptxGenJS Presentation</dc:subject>
  <dc:creator>Tomas Montero</dc:creator>
  <cp:lastModifiedBy>Tomas Montero</cp:lastModifiedBy>
  <cp:revision>1</cp:revision>
  <dcterms:created xsi:type="dcterms:W3CDTF">2026-04-22T22:06:21Z</dcterms:created>
  <dcterms:modified xsi:type="dcterms:W3CDTF">2026-04-22T22:06:21Z</dcterms:modified>
</cp:coreProperties>
</file>