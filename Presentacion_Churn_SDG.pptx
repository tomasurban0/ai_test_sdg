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32"/>
    <p:sldId id="282" r:id="rId3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3.xml"/><Relationship Id="rId33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LightGBM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0.626</c:v>
                </c:pt>
                <c:pt idx="1">
                  <c:v>0.638</c:v>
                </c:pt>
                <c:pt idx="2">
                  <c:v>0.671</c:v>
                </c:pt>
                <c:pt idx="3">
                  <c:v>0.694</c:v>
                </c:pt>
                <c:pt idx="4">
                  <c:v>0.694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.5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937"/>
                </a:solidFill>
                <a:latin typeface="Arial"/>
              </a:rPr>
              <a:t>Lift vs % de clientes contactados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</c:v>
                </c:pt>
              </c:strCache>
            </c:strRef>
          </c:tx>
          <c:spPr>
            <a:solidFill>
              <a:srgbClr val="0078D4"/>
            </a:solidFill>
            <a:ln w="38100" cap="flat">
              <a:solidFill>
                <a:srgbClr val="0078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8D4"/>
              </a:solidFill>
              <a:ln w="9525" cap="flat">
                <a:solidFill>
                  <a:srgbClr val="0078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5%</c:v>
                  </c:pt>
                  <c:pt idx="1">
                    <c:v>10%</c:v>
                  </c:pt>
                  <c:pt idx="2">
                    <c:v>15%</c:v>
                  </c:pt>
                  <c:pt idx="3">
                    <c:v>20%</c:v>
                  </c:pt>
                  <c:pt idx="4">
                    <c:v>25%</c:v>
                  </c:pt>
                  <c:pt idx="5">
                    <c:v>30%</c:v>
                  </c:pt>
                  <c:pt idx="6">
                    <c:v>40%</c:v>
                  </c:pt>
                  <c:pt idx="7">
                    <c:v>50%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1.67</c:v>
                </c:pt>
                <c:pt idx="1">
                  <c:v>1.59</c:v>
                </c:pt>
                <c:pt idx="2">
                  <c:v>1.54</c:v>
                </c:pt>
                <c:pt idx="3">
                  <c:v>1.49</c:v>
                </c:pt>
                <c:pt idx="4">
                  <c:v>1.44</c:v>
                </c:pt>
                <c:pt idx="5">
                  <c:v>1.41</c:v>
                </c:pt>
                <c:pt idx="6">
                  <c:v>1.35</c:v>
                </c:pt>
                <c:pt idx="7">
                  <c:v>1.29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Aleatorio</c:v>
                </c:pt>
              </c:strCache>
            </c:strRef>
          </c:tx>
          <c:spPr>
            <a:solidFill>
              <a:srgbClr val="9CA3AF"/>
            </a:solidFill>
            <a:ln w="3810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5%</c:v>
                  </c:pt>
                  <c:pt idx="1">
                    <c:v>10%</c:v>
                  </c:pt>
                  <c:pt idx="2">
                    <c:v>15%</c:v>
                  </c:pt>
                  <c:pt idx="3">
                    <c:v>20%</c:v>
                  </c:pt>
                  <c:pt idx="4">
                    <c:v>25%</c:v>
                  </c:pt>
                  <c:pt idx="5">
                    <c:v>30%</c:v>
                  </c:pt>
                  <c:pt idx="6">
                    <c:v>40%</c:v>
                  </c:pt>
                  <c:pt idx="7">
                    <c:v>50%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.8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91440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 de Churn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Telecomunicaciones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Tecnica — Data Scientist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Ángel Montero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9" name="Oval 8"/>
          <p:cNvSpPr/>
          <p:nvPr/>
        </p:nvSpPr>
        <p:spPr>
          <a:xfrm>
            <a:off x="6400000" y="800000"/>
            <a:ext cx="3200000" cy="32000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00000" y="2500000"/>
            <a:ext cx="2200000" cy="2200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00000" y="300000"/>
            <a:ext cx="1000000" cy="10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65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32104" y="1783080"/>
            <a:ext cx="18288" cy="1371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344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problema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" y="2331720"/>
            <a:ext cx="18288" cy="1371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3444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exploratorio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" y="2880360"/>
            <a:ext cx="18288" cy="1371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3444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2104" y="3429000"/>
            <a:ext cx="18288" cy="1371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3444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2104" y="3977640"/>
            <a:ext cx="18288" cy="1371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34440" y="3566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pipeline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siguientes pasos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30" name="Oval 29"/>
          <p:cNvSpPr/>
          <p:nvPr/>
        </p:nvSpPr>
        <p:spPr>
          <a:xfrm>
            <a:off x="5500000" y="500000"/>
            <a:ext cx="2500000" cy="2500000"/>
          </a:xfrm>
          <a:prstGeom prst="ellipse">
            <a:avLst/>
          </a:prstGeom>
          <a:solidFill>
            <a:srgbClr val="0078D4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0000" y="2000000"/>
            <a:ext cx="1800000" cy="1800000"/>
          </a:xfrm>
          <a:prstGeom prst="ellipse">
            <a:avLst/>
          </a:prstGeom>
          <a:solidFill>
            <a:srgbClr val="0078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00000" y="3200000"/>
            <a:ext cx="1200000" cy="1200000"/>
          </a:xfrm>
          <a:prstGeom prst="ellipse">
            <a:avLst/>
          </a:prstGeom>
          <a:solidFill>
            <a:srgbClr val="0078D4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3152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Problema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Entendiendo el churn en telecomunicaciones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Churn en Telecomunicaciones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Captar un nuevo cliente cuesta 5-7x mas que retener uno existente.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En telecomunicaciones, el churn mensual tipico oscila entre el 1-3%. Identificar clientes en riesgo ANTES de que se vayan permite intervenir con ofertas de retencion dirigidas.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Objetivo: construir un modelo predictivo que identifique a los clientes con mayor probabilidad de abandonar, permitiendo priorizar acciones de retencion.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0" y="1188720"/>
            <a:ext cx="73152" cy="9601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0352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30352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en el dataset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33172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0" y="2331720"/>
            <a:ext cx="73152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0352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035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originales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47472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0" y="3474720"/>
            <a:ext cx="73152" cy="9601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0352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3035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churn/no-churn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3152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Exploratorio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clave, peculiaridades y feature engineering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Hallazgos Principales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artificial 50/50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esta balanceado artificialmente. Poco realista (churn real ~1-3%), pero elimina la necesidad de tecnicas de oversampling.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camuflados ('U', 'Z')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kid0_2 a kid16_17 usan 'U' como null (&gt;90%). Otros campos usan 'Z'. Reemplazados por NaN antes de cualquier analisis.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 extrema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008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de variables con correlacion r=1.000 (p.ej. rev_Mean/totrev). Eliminamos la de menor correlacion con churn (umbral: r&gt;0.98).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negativos en eqpdays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93776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antiguedad del equipo con valores negativos (fisicamente imposible). Convertidos a NaN e imputados con la mediana.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Peculiaridades Detectadas en el Dataset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" y="125272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12527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91640" y="1133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ordenado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13898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correlacionados con churn. No se usa como feature para evitar data leakage.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81051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1810512"/>
            <a:ext cx="54864" cy="5943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85800" y="196596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1965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9164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casi nula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21031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 &gt;99% del mismo valor eliminadas: no aportan informacion discriminativa.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523744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2523744"/>
            <a:ext cx="54864" cy="5943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5800" y="2679192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26791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916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Dummies sin senal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28163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Binarias con churn rate identico en 0 y 1 (diferencia &lt; 1%). Eliminadas.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236976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3236976"/>
            <a:ext cx="54864" cy="5943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85800" y="339242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85800" y="33924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9164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change_mou: leakage?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91640" y="352958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uso sospechoso. Estudio de ablacion confirmo que NO es leakage (delta AUC &lt; 5 pp).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950208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3950208"/>
            <a:ext cx="54864" cy="5943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85800" y="4105656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5800" y="41056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691640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&gt;85% nulos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91640" y="424281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Eliminadas directamente. Imputar mas del 85% seria inventar datos.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8 Variables Nuevas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8229600" cy="40233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14630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rev_per_minute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0" y="14630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por minuto de uso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rev_Mean / mou_Mean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65376"/>
            <a:ext cx="8229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" y="18653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call_fail_rate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51760" y="18653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fallos de llamadas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8653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(drop + blck) / intentos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67712"/>
            <a:ext cx="8229600" cy="40233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4360" y="22677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care_intensity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51760" y="22677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de contacto soporte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0" y="22677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custcare / mou_Mean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70048"/>
            <a:ext cx="8229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4360" y="26700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old_device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51760" y="26700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antiguo (&gt;1 ano)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26700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eqpdays &gt; 365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072384"/>
            <a:ext cx="8229600" cy="40233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94360" y="30723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usage_drop_severe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51760" y="307238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Caida severa de uso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0" y="307238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change_mou &lt; -50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8229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94360" y="34747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rev_vs_avg3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51760" y="34747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Facturacion vs media historica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0" y="34747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rev_Mean / avg3rev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77056"/>
            <a:ext cx="8229600" cy="402336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94360" y="38770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new_customer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651760" y="387705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nuevo (&lt; 6 meses)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0" y="387705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&lt;= 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279392"/>
            <a:ext cx="8229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94360" y="42793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engagement_score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651760" y="42793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engagement compuesto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0" y="42793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rank(mou + comp + recv) / 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variables interpretables para el negocio, derivadas de patrones encontrados en el EDA.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3152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Seleccion, entrenamiento, evaluacion e interpretabilidad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Preprocesamiento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508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peculiaridades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camuflados, negativos, multicolinealidad, varianza nula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148840"/>
            <a:ext cx="137160" cy="1371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29968" y="137160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578608" y="1508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57860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121408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21408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variables nuevas con logica de negocio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148840"/>
            <a:ext cx="137160" cy="1371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785616" y="137160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334256" y="1508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433425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877056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877056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Categoricas convertidas a numerico</a:t>
            </a:r>
            <a:endParaRPr lang="en-US" sz="9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2148840"/>
            <a:ext cx="137160" cy="1371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541264" y="137160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6089904" y="1508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608990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632704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Imputacion mediana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632704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numericos rellenados con la mediana</a:t>
            </a:r>
            <a:endParaRPr lang="en-US" sz="9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4" y="2148840"/>
            <a:ext cx="137160" cy="13716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296912" y="137160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7845552" y="1508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32" name="Text 26"/>
          <p:cNvSpPr/>
          <p:nvPr/>
        </p:nvSpPr>
        <p:spPr>
          <a:xfrm>
            <a:off x="784555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388352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70/15/15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388352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estratificado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100K filas x 88 columnas limpias, sin leakage, listas para modelar.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Benchmarking: 5 Modelos Evaluados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9728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760720" y="1097280"/>
            <a:ext cx="54864" cy="32918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8932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XGBoost?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89320" y="16459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Empata con LightGBM en AUC-ROC (0.694) pero ofrece: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Regularizacion L1/L2 nativa que controla overfitting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Mejor soporte de SHAP (TreeExplainer optimizado)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Ecosistema maduro y well-documented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Tuning mas controlable via scale_pos_weight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Logistic Regression se mantiene como baseline interpretable.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RandomizedSearchCV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500000"/>
          </a:xfrm>
          <a:prstGeom prst="roundRect">
            <a:avLst>
              <a:gd name="adj" fmla="val 2222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4592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RandomizedSearchCV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1109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911096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176272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3-fold estratificado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44144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 objetivo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44144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AUC-ROC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70662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706624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 5, 6, 7, 8]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297180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[0.01, 0.05, 0.1, 0.15]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23697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236976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[200, 300, 500]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50215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3502152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[0.7, 0.8, 0.9]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6732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376732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[0.6, 0.7, 0.8, 0.9]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03250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reg_alpha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4032504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0.01, 0.1, 0.5]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29768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reg_lambda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429768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[0.5, 1.0, 2.0, 5.0]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esta configuracion?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16459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RandomizedSearch vs GridSearch: con 11 hiperparametros, el grid completo seria intratable. 30 iteraciones aleatorias cubren el espacio de forma eficiente.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3-fold: equilibrio entre robustez estadistica y tiempo de computo. Con 100K filas, cada fold tiene ~67K muestras.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AUC-ROC como metrica: es threshold-independent, lo que permite optimizar sin comprometerse a un punto de corte fijo.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Regularizacion (alpha, lambda): controla overfitting en un dataset con 88 features.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Finales en Test Set (Holdout)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143000"/>
            <a:ext cx="196596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0.6986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1430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514600" y="1143000"/>
            <a:ext cx="196596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1460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0.6399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196596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6344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0.6415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11430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812280" y="114300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1228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0.6382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B5563"/>
                          </a:solidFill>
                        </a:rPr>
                        <a:t>Pred: 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B5563"/>
                          </a:solidFill>
                        </a:rPr>
                        <a:t>Pred: Si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B5563"/>
                          </a:solidFill>
                        </a:rPr>
                        <a:t>Real: 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4,863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2,703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B5563"/>
                          </a:solidFill>
                        </a:rPr>
                        <a:t>Real: Si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2,665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4,769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846320" y="2651760"/>
            <a:ext cx="3840480" cy="21000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029200" y="3108960"/>
            <a:ext cx="347472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AUC 0.70 indica capacidad discriminativa moderada-buena. Dado un dataset con 100 features ruidosas y peculiaridades, es un resultado solido.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Recall 64.2%: de cada 100 churners reales, identificamos ~64.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El threshold de 0.50 se puede ajustar segun el coste de FP vs FN del negocio.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Entendiendo las Metricas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7498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170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1430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bajo la curva ROC. Mide la capacidad del modelo de separar las dos clases independientemente del threshold.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148132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metrica principal porque no depende de un punto de corte arbitrario.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54864" cy="7498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2039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0116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que predecimos como churn, que % realmente lo son.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0" y="235000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precision = menos falsos positivos = menos gasto en retencion de clientes que no iban a irse.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2834640"/>
            <a:ext cx="54864" cy="7498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28803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churners reales, que % identificamos.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11680" y="321868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recall = detectamos mas churners = menos ingresos perdidos por clientes no identificados.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3703320"/>
            <a:ext cx="54864" cy="7498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3776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3749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armonica de Precision y Recall.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011680" y="408736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 ambas metricas. Util cuando el coste de FP y FN es similar.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Interpretabilidad del Modelo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389120" cy="3383280"/>
          </a:xfrm>
          <a:prstGeom prst="roundRect">
            <a:avLst>
              <a:gd name="adj" fmla="val 2162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Features (SHAP Values)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20040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85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change_mou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288036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79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mou_Mean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256032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73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eqpdays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224028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67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192024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61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rev_Mean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60020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55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roam_Mean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291840"/>
            <a:ext cx="128016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49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avg3mou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566160"/>
            <a:ext cx="96012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43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call_fail_rate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37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totrev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114800"/>
            <a:ext cx="320040" cy="182880"/>
          </a:xfrm>
          <a:prstGeom prst="roundRect">
            <a:avLst>
              <a:gd name="adj" fmla="val 15000"/>
            </a:avLst>
          </a:prstGeom>
          <a:solidFill>
            <a:srgbClr val="0078D4">
              <a:alpha val="31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858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engagement_score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109728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30352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Interpretacion clave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16002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change_mou (cambio en minutos de uso) es el predictor mas fuerte: una caida en el uso es la senal mas clara de abandono.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mou_Mean y eqpdays: clientes con poco uso y equipos viejos tienen mayor riesgo.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months: clientes nuevos (&lt;6 meses) son mas volatiles.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call_fail_rate (feature nueva): la calidad de servicio impacta directamente en churn.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78D4"/>
                </a:solidFill>
              </a:rPr>
              <a:t>SHAP nos da explicaciones por cliente, no solo globales.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3152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curve, analisis de threshold y recomendaciones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Lift: Impacto en Negocio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097280"/>
            <a:ext cx="3200400" cy="3500000"/>
          </a:xfrm>
          <a:prstGeom prst="roundRect">
            <a:avLst>
              <a:gd name="adj" fmla="val 2286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577840" y="1097280"/>
            <a:ext cx="54864" cy="32004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80644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practico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06440" y="1554480"/>
            <a:ext cx="2834640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Contactando solo al top 10% de clientes por riesgo, capturamos ~16% de los churners.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78D4"/>
                </a:solidFill>
              </a:rPr>
              <a:t>Lift de 1.59x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vs contactar al azar.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Esto significa un 59% mas de eficiencia en campanas de retencion frente a un enfoque aleatorio.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El ahorro depende del coste de retencion y del ARPU del cliente, pero en telco el ROI suele ser positivo contactando al top 20-30%.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Ablacion: change_mou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Sospecha: change_mou podria contener informacion del futuro (leakage)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predictor #1 en SHAP. Si representara el cambio DESPUES de la decision de irse, seria data leakage. Lo verificamos entrenando el modelo sin esta variable y comparando.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D6EAF8"/>
          </a:solidFill>
          <a:ln/>
        </p:spPr>
        <p:txBody>
          <a:bodyPr/>
          <a:p/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51760"/>
          <a:ext cx="4663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18872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 change_mou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Sin change_mou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AUC-ROC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8D4"/>
                          </a:solidFill>
                        </a:rPr>
                        <a:t>0.6986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~0.67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</a:rPr>
                        <a:t>~3 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F1 Score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8D4"/>
                          </a:solidFill>
                        </a:rPr>
                        <a:t>0.6399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~0.62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</a:rPr>
                        <a:t>~2 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760720" y="251460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6517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94360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&lt; 5 pp: change_mou NO es leakage. Es una senal legitima de comportamiento previo al churn.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Negocio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Campanas de retencion focalizadas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399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modelo para priorizar el top 20-30% de clientes por riesgo. Lift de 1.49x vs aleatorio.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181051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767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renovacion de equipos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97280" y="2112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eqpdays &gt; 365 tienen mayor churn. Ofrecer upgrade subsidiado.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52374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60904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2569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calidad de red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97280" y="2825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call_fail_rate predice churn. Monitorizar y actuar proactivamente ante degradacion de servicio.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323697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7413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3282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reforzado para nuevos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97280" y="3538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&lt; 6 meses son volatiles. Implementar programa de bienvenida con incentivos.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57200" y="395020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87368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semanal automatizado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09728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pipeline periodicamente para actualizar scores y alimentar CRM.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3152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modulares, Airflow DAG y Docker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Airflow: DAG de 3 Tasks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25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data_preparation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peculiaridades, feature engineering, encoding, split 70/15/15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97280" y="329184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291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~16s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19456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4612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38328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entrenamiento, evaluacion en val set, guardado como pickle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069080" y="329184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4069080" y="3291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~5s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194560"/>
            <a:ext cx="182880" cy="182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1792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D6EAF8"/>
          </a:solidFill>
          <a:ln/>
        </p:spPr>
        <p:txBody>
          <a:bodyPr/>
          <a:p/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3258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550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evaluate_model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35508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pickle, predicciones en holdout, metricas en logs, JSON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040880" y="329184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/>
          <a:p/>
        </p:txBody>
      </p:sp>
      <p:sp>
        <p:nvSpPr>
          <p:cNvPr id="25" name="Text 18"/>
          <p:cNvSpPr/>
          <p:nvPr/>
        </p:nvSpPr>
        <p:spPr>
          <a:xfrm>
            <a:off x="7040880" y="3291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~1s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27" name="Text 20"/>
          <p:cNvSpPr/>
          <p:nvPr/>
        </p:nvSpPr>
        <p:spPr>
          <a:xfrm>
            <a:off x="640080" y="3977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D4"/>
                </a:solidFill>
              </a:rPr>
              <a:t>PythonOperator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 — cada task importa y ejecuta la funcion main() del script correspondiente. Si un paso falla, el DAG se detiene.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Infraestructura: Docker Compose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88720"/>
            <a:ext cx="2011680" cy="54864"/>
          </a:xfrm>
          <a:prstGeom prst="rect">
            <a:avLst/>
          </a:prstGeom>
          <a:solidFill>
            <a:srgbClr val="33679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PostgreSQL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+ churn_db + mlflow_db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1887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43200" y="1188720"/>
            <a:ext cx="201168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83464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UI en :8080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1887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29200" y="1188720"/>
            <a:ext cx="201168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2064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:3000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11887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15200" y="1188720"/>
            <a:ext cx="201168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0664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2.12.2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:5000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3774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diseno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28346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10 servicios Docker: Airflow (webserver, scheduler, triggerer, init), 3x PostgreSQL, MLflow, Pushgateway, Prometheus, Grafana.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Imagen custom con xgboost, sklearn, mlflow, etc. via Dockerfile + requirements.txt.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Monitoring stack: evaluate_model exporta metricas al Pushgateway, Prometheus las scrapea, Grafana las visualiza.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Volumenes montados: scripts/, data/, models/ y monitoring/ para desarrollo iterativo.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37744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8463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clave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build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airflow-init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758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Airflow :8080 | MLflow :5000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050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Grafana :3000 | Prometheus :9090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Calibri"/>
              </a:rPr>
              <a:t>Evidencia: Orquestacion y Experiment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078D4"/>
                </a:solidFill>
                <a:latin typeface="Calibri"/>
              </a:rPr>
              <a:t>sdg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Calibri"/>
              </a:rPr>
              <a:t>Copyright © SDG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Calibri"/>
              </a:rPr>
              <a:t>Apache Airflow — DAG con 10 runs exitosos</a:t>
            </a:r>
          </a:p>
        </p:txBody>
      </p:sp>
      <p:pic>
        <p:nvPicPr>
          <p:cNvPr id="7" name="Picture 6" descr="airflow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0000"/>
            <a:ext cx="4000000" cy="21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0000" y="86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Calibri"/>
              </a:rPr>
              <a:t>MLflow 2.12.2 — Run completado con metricas</a:t>
            </a:r>
          </a:p>
        </p:txBody>
      </p:sp>
      <p:pic>
        <p:nvPicPr>
          <p:cNvPr id="9" name="Picture 8" descr="mlflow_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00" y="1150000"/>
            <a:ext cx="4000000" cy="21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400000"/>
            <a:ext cx="820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Airflow ejecuta el DAG de 3 tasks (data_preparation → train_model → evaluate_model) en ~1 min 21s. MLflow registra automaticamente 41 hiperparametros y 4 metricas de validacion (val_auc_roc=0.6913, val_f1=0.6376). Cada run queda versionado para comparacion futura.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Calibri"/>
              </a:rPr>
              <a:t>Evidencia: Monitoreo con Prometheus y Grafana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0078D4"/>
                </a:solidFill>
                <a:latin typeface="Calibri"/>
              </a:rPr>
              <a:t>sdg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Calibri"/>
              </a:rPr>
              <a:t>Copyright © SDG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00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Calibri"/>
              </a:rPr>
              <a:t>Grafana — Dashboard Churn Prediction Pipeline</a:t>
            </a:r>
          </a:p>
        </p:txBody>
      </p:sp>
      <p:pic>
        <p:nvPicPr>
          <p:cNvPr id="7" name="Picture 6" descr="grafana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0000"/>
            <a:ext cx="5400000" cy="28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00000" y="860000"/>
            <a:ext cx="2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Calibri"/>
              </a:rPr>
              <a:t>Prometheus — Metricas en tiempo real</a:t>
            </a:r>
          </a:p>
        </p:txBody>
      </p:sp>
      <p:pic>
        <p:nvPicPr>
          <p:cNvPr id="9" name="Picture 8" descr="prometheus_qu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000" y="1150000"/>
            <a:ext cx="2700000" cy="13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00000" y="2550000"/>
            <a:ext cx="2700000" cy="1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El pipeline exporta metricas al Pushgateway tras cada ejecucion. Prometheus las scrapea cada 15s. El dashboard muestra AUC-ROC, F1, confusion matrix, lift por percentil y datos del pipeline en tiempo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00000"/>
            <a:ext cx="82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B2A4A"/>
                </a:solidFill>
                <a:latin typeface="Calibri"/>
              </a:rPr>
              <a:t>Stack completo: evaluate_model.py → metrics_exporter.py → Pushgateway (:9091) → Prometheus (:9090) → Grafana (:3000)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3152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Resumen, limitaciones y siguientes pasos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Siguientes Pasos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0" y="137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hemos construido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201168" cy="201168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201168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nuevas con logica de negocio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237744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tuneado: AUC 0.70, Lift 1.59x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8892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2688" y="27432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para explicabilidad por cliente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32688" y="310896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Airflow + Docker (10 servicios)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52044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32688" y="34747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MLflow: persistencia y tracking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886200"/>
            <a:ext cx="201168" cy="201168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75488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D6EAF8"/>
          </a:solidFill>
          <a:ln/>
        </p:spPr>
        <p:txBody>
          <a:bodyPr/>
          <a:p/>
        </p:txBody>
      </p:sp>
      <p:sp>
        <p:nvSpPr>
          <p:cNvPr id="23" name="Text 14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</a:t>
            </a:r>
            <a:endParaRPr lang="en-US" sz="1400" dirty="0"/>
          </a:p>
        </p:txBody>
      </p:sp>
      <p:sp>
        <p:nvSpPr>
          <p:cNvPr id="24" name="Text 15"/>
          <p:cNvSpPr/>
          <p:nvPr/>
        </p:nvSpPr>
        <p:spPr>
          <a:xfrm>
            <a:off x="4937760" y="16459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Feature store para centralizar features reutilizables entre modelos.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A/B testing para validar impacto real de las campanas de retencion.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Datos reales desbalanceados: adaptar con SMOTE/class_weight (~2%).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Alertas automaticas en Grafana (umbrales de AUC, drift detection).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CI/CD para reentrenamiento automatico con datos frescos.</a:t>
            </a:r>
            <a:endParaRPr lang="en-US" sz="1050" dirty="0"/>
          </a:p>
        </p:txBody>
      </p:sp>
      <p:sp>
        <p:nvSpPr>
          <p:cNvPr id="50" name="Text 49"/>
          <p:cNvSpPr/>
          <p:nvPr/>
        </p:nvSpPr>
        <p:spPr>
          <a:xfrm>
            <a:off x="932688" y="384048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Grafana: monitoreo en vivo</a:t>
            </a:r>
            <a:endParaRPr lang="en-US" sz="1100" dirty="0"/>
          </a:p>
        </p:txBody>
      </p:sp>
      <p:pic>
        <p:nvPicPr>
          <p:cNvPr id="51" name="Picture 5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40480"/>
            <a:ext cx="201168" cy="20116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2688" y="1645920"/>
            <a:ext cx="33832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4B5563"/>
                </a:solidFill>
                <a:latin typeface="Calibri"/>
              </a:rPr>
              <a:t>EDA profundo + 13 peculiaridades detectadas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group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840480" y="237744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2606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Respuestas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Ángel Montero  |  ma2montero@gmail.com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SDG Group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 Prediction — Prueba Tecnica SDG Group</dc:title>
  <dc:subject>PptxGenJS Presentation</dc:subject>
  <dc:creator>Tomas Montero</dc:creator>
  <cp:lastModifiedBy>Tomas Montero</cp:lastModifiedBy>
  <cp:revision>1</cp:revision>
  <dcterms:created xsi:type="dcterms:W3CDTF">2026-04-22T22:06:21Z</dcterms:created>
  <dcterms:modified xsi:type="dcterms:W3CDTF">2026-04-22T22:06:21Z</dcterms:modified>
</cp:coreProperties>
</file>