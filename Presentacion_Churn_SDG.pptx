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1" r:id="rId32"/>
    <p:sldId id="282" r:id="rId3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3.xml"/><Relationship Id="rId33" Type="http://schemas.openxmlformats.org/officeDocument/2006/relationships/slide" Target="slides/slide24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AUC-ROC</c:v>
                </c:pt>
              </c:strCache>
            </c:strRef>
          </c:tx>
          <c:spPr>
            <a:solidFill>
              <a:srgbClr val="0078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Logistic Reg.</c:v>
                  </c:pt>
                  <c:pt idx="1">
                    <c:v>Decision Tree</c:v>
                  </c:pt>
                  <c:pt idx="2">
                    <c:v>Random Forest</c:v>
                  </c:pt>
                  <c:pt idx="3">
                    <c:v>LightGBM</c:v>
                  </c:pt>
                  <c:pt idx="4">
                    <c:v>XGBoost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0.626</c:v>
                </c:pt>
                <c:pt idx="1">
                  <c:v>0.638</c:v>
                </c:pt>
                <c:pt idx="2">
                  <c:v>0.671</c:v>
                </c:pt>
                <c:pt idx="3">
                  <c:v>0.694</c:v>
                </c:pt>
                <c:pt idx="4">
                  <c:v>0.694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.5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937"/>
                </a:solidFill>
                <a:latin typeface="Arial"/>
              </a:rPr>
              <a:t>Lift vs % de clientes contactados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solidFill>
              <a:srgbClr val="0078D4"/>
            </a:solidFill>
            <a:ln w="38100" cap="flat">
              <a:solidFill>
                <a:srgbClr val="0078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8D4"/>
              </a:solidFill>
              <a:ln w="9525" cap="flat">
                <a:solidFill>
                  <a:srgbClr val="0078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1.67</c:v>
                </c:pt>
                <c:pt idx="1">
                  <c:v>1.59</c:v>
                </c:pt>
                <c:pt idx="2">
                  <c:v>1.54</c:v>
                </c:pt>
                <c:pt idx="3">
                  <c:v>1.49</c:v>
                </c:pt>
                <c:pt idx="4">
                  <c:v>1.44</c:v>
                </c:pt>
                <c:pt idx="5">
                  <c:v>1.41</c:v>
                </c:pt>
                <c:pt idx="6">
                  <c:v>1.35</c:v>
                </c:pt>
                <c:pt idx="7">
                  <c:v>1.29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Aleatorio</c:v>
                </c:pt>
              </c:strCache>
            </c:strRef>
          </c:tx>
          <c:spPr>
            <a:solidFill>
              <a:srgbClr val="9CA3AF"/>
            </a:solidFill>
            <a:ln w="38100" cap="flat">
              <a:solidFill>
                <a:srgbClr val="9CA3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.8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7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914400" cy="457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Prediccion de Churn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Telecomunicaciones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Tecnica — Data Scientist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Ángel Montero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434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9" name="Oval 8"/>
          <p:cNvSpPr/>
          <p:nvPr/>
        </p:nvSpPr>
        <p:spPr>
          <a:xfrm>
            <a:off x="6400000" y="800000"/>
            <a:ext cx="3200000" cy="3200000"/>
          </a:xfrm>
          <a:prstGeom prst="ellipse">
            <a:avLst/>
          </a:prstGeom>
          <a:solidFill>
            <a:srgbClr val="FFFF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0000" y="2500000"/>
            <a:ext cx="2200000" cy="220000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00000" y="300000"/>
            <a:ext cx="1000000" cy="100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657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32104" y="178308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344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32104" y="233172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3444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exploratorio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" y="288036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34440" y="2468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predictivo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32104" y="342900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34440" y="3017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negocio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56616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32104" y="397764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234440" y="3566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pipeline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411480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4008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34440" y="41148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siguientes pasos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30" name="Oval 29"/>
          <p:cNvSpPr/>
          <p:nvPr/>
        </p:nvSpPr>
        <p:spPr>
          <a:xfrm>
            <a:off x="5500000" y="500000"/>
            <a:ext cx="2500000" cy="2500000"/>
          </a:xfrm>
          <a:prstGeom prst="ellipse">
            <a:avLst/>
          </a:prstGeom>
          <a:solidFill>
            <a:srgbClr val="0078D4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00000" y="2000000"/>
            <a:ext cx="1800000" cy="1800000"/>
          </a:xfrm>
          <a:prstGeom prst="ellipse">
            <a:avLst/>
          </a:prstGeom>
          <a:solidFill>
            <a:srgbClr val="0078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00000" y="3200000"/>
            <a:ext cx="1200000" cy="1200000"/>
          </a:xfrm>
          <a:prstGeom prst="ellipse">
            <a:avLst/>
          </a:prstGeom>
          <a:solidFill>
            <a:srgbClr val="0078D4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Entendiendo el churn en telecomunicaciones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Churn en Telecomunicaciones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</a:rPr>
              <a:t>Captar un nuevo cliente cuesta 5-7x mas que retener uno existente.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En telecomunicaciones, el churn mensual tipico oscila entre el 1-3%. Identificar clientes en riesgo ANTES de que se vayan permite intervenir con ofertas de retencion dirigidas.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Objetivo: construir un modelo predictivo que identifique a los clientes con mayor probabilidad de abandonar, permitiendo priorizar acciones de retencion.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188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029200" y="1188720"/>
            <a:ext cx="73152" cy="96012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303520" y="1280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30352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en el dataset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2331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029200" y="2331720"/>
            <a:ext cx="73152" cy="9601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303520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30352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originales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0" y="3474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029200" y="3474720"/>
            <a:ext cx="73152" cy="9601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303520" y="3566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50/50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30352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churn/no-churn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Exploratorio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clave, peculiaridades y feature engineering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EDA: Hallazgos Principales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artificial 50/50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esta balanceado artificialmente. Poco realista (churn real ~1-3%), pero elimina la necesidad de tecnicas de oversampling.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5488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716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4924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 ('U', 'Z')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93776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columnas kid0_2 a kid16_17 usan 'U' como null (&gt;90%). Otros campos usan 'Z'. Reemplazados por NaN antes de cualquier analisis.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5468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5156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Multicolinealidad extrema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008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de variables con correlacion r=1.000 (p.ej. rev_Mean/totrev). Eliminamos la de menor correlacion con churn (umbral: r&gt;0.98).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75488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15468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negativos en eqpdays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93776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 de antiguedad del equipo con valores negativos (fisicamente imposible). Convertidos a NaN e imputados con la mediana.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Peculiaridades Detectadas en el Dataset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097280"/>
            <a:ext cx="54864" cy="5943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252728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2527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691640" y="1133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 ordenado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91640" y="13898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correlacionados con churn. No se usa como feature para evitar data leakage.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810512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1810512"/>
            <a:ext cx="54864" cy="5943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85800" y="196596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69164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 casi nula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91640" y="21031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con &gt;99% del mismo valor eliminadas: no aportan informacion discriminativa.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523744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" y="2523744"/>
            <a:ext cx="54864" cy="5943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85800" y="2679192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5800" y="26791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6916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Dummies sin senal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91640" y="281635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Binarias con churn rate identico en 0 y 1 (diferencia &lt; 1%). Eliminadas.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236976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57200" y="3236976"/>
            <a:ext cx="54864" cy="59436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85800" y="3392424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85800" y="33924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691640" y="3273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change_mou: leakage?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352958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uso sospechoso. Estudio de ablacion confirmo que NO es leakage (delta AUC &lt; 5 pp).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3950208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57200" y="3950208"/>
            <a:ext cx="54864" cy="5943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85800" y="4105656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85800" y="4105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691640" y="39867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&gt;85% nulos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691640" y="424281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Eliminadas directamente. Imputar mas del 85% seria inventar datos.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8 Variables Nuevas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1097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1097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1097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46304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rev_per_minute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51760" y="1463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por minuto de uso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0" y="1463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mou_Mean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1865376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4360" y="186537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51760" y="18653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fallos de llamadas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0" y="18653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(drop + blck) / intentos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267712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94360" y="22677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care_intensity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651760" y="22677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 de contacto soporte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0" y="22677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custcare / mou_Mean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670048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94360" y="26700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old_device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65176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antiguo (&gt;1 ano)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 &gt; 365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072384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94360" y="307238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usage_drop_severe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651760" y="307238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Caida severa de uso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669280" y="307238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 &lt; -50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474720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94360" y="34747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rev_vs_avg3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51760" y="34747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Facturacion vs media historica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669280" y="34747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avg3rev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877056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94360" y="38770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new_customer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651760" y="3877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nuevo (&lt; 6 meses)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0" y="3877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 &lt;= 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279392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94360" y="427939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651760" y="427939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engagement compuesto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669280" y="427939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rank(mou + comp + recv) / 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Criterio: variables interpretables para el negocio, derivadas de patrones encontrados en el EDA.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Predictivo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Seleccion, entrenamiento, evaluacion e interpretabilidad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Preprocesamiento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22960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peculiaridades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camuflados, negativos, multicolinealidad, varianza nula</a:t>
            </a:r>
            <a:endParaRPr lang="en-US" sz="95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148840"/>
            <a:ext cx="137160" cy="1371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029968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2578608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57860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121408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121408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variables nuevas con logica de negocio</a:t>
            </a:r>
            <a:endParaRPr lang="en-US" sz="95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2148840"/>
            <a:ext cx="137160" cy="13716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785616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4334256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433425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3877056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LabelEncoder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877056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Categoricas convertidas a numerico</a:t>
            </a:r>
            <a:endParaRPr lang="en-US" sz="95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816" y="2148840"/>
            <a:ext cx="137160" cy="13716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541264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6089904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6" name="Text 21"/>
          <p:cNvSpPr/>
          <p:nvPr/>
        </p:nvSpPr>
        <p:spPr>
          <a:xfrm>
            <a:off x="608990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5632704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Imputacion mediana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632704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numericos rellenados con la mediana</a:t>
            </a:r>
            <a:endParaRPr lang="en-US" sz="95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464" y="2148840"/>
            <a:ext cx="137160" cy="13716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296912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1" name="Shape 25"/>
          <p:cNvSpPr/>
          <p:nvPr/>
        </p:nvSpPr>
        <p:spPr>
          <a:xfrm>
            <a:off x="7845552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32" name="Text 26"/>
          <p:cNvSpPr/>
          <p:nvPr/>
        </p:nvSpPr>
        <p:spPr>
          <a:xfrm>
            <a:off x="7845552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388352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70/15/15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7388352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/ Test estratificado</a:t>
            </a:r>
            <a:endParaRPr lang="en-US" sz="950" dirty="0"/>
          </a:p>
        </p:txBody>
      </p:sp>
      <p:sp>
        <p:nvSpPr>
          <p:cNvPr id="35" name="Text 29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100K filas x 88 columnas limpias, sin leakage, listas para modelar.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Benchmarking: 5 Modelos Evaluados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097280"/>
          <a:ext cx="50292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109728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760720" y="1097280"/>
            <a:ext cx="54864" cy="329184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98932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XGBoost?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89320" y="164592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Empata con LightGBM en AUC-ROC (0.694) pero ofrece: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Regularizacion L1/L2 nativa que controla overfitting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Mejor soporte de SHAP (TreeExplainer optimizado)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Ecosistema maduro y well-documented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Tuning mas controlable via scale_pos_weight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Logistic Regression se mantiene como baseline interpretable.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Tuning: RandomizedSearchCV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50000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4592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RandomizedSearchCV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191109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Iteraciones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911096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176272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3-fold estratificado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244144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 objetivo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86000" y="2441448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AUC-ROC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270662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0" y="2706624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[4, 5, 6, 7, 8]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297180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86000" y="297180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[0.01, 0.05, 0.1, 0.15]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323697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86000" y="3236976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[200, 300, 500]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50215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286000" y="3502152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[0.7, 0.8, 0.9]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6732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colsample_bytree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3767328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[0.6, 0.7, 0.8, 0.9]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03250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reg_alpha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286000" y="4032504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[0, 0.01, 0.1, 0.5]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29768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reg_lambda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286000" y="429768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[0.5, 1.0, 2.0, 5.0]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 configuracion?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937760" y="16459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RandomizedSearch vs GridSearch: con 11 hiperparametros, el grid completo seria intratable. 30 iteraciones aleatorias cubren el espacio de forma eficiente.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3-fold: equilibrio entre robustez estadistica y tiempo de computo. Con 100K filas, cada fold tiene ~67K muestras.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AUC-ROC como metrica: es threshold-independent, lo que permite optimizar sin comprometerse a un punto de corte fijo.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Regularizacion (alpha, lambda): controla overfitting en un dataset con 88 features.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Metricas Finales en Test Set (Holdout)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143000"/>
            <a:ext cx="196596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576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0.6986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514600" y="1143000"/>
            <a:ext cx="1965960" cy="5486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51460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0.6399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1460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96596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6344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0.6415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66344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1228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812280" y="1143000"/>
            <a:ext cx="196596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1228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0.6382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81228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651760"/>
            <a:ext cx="4114800" cy="1828800"/>
          </a:xfrm>
          <a:prstGeom prst="roundRect">
            <a:avLst>
              <a:gd name="adj" fmla="val 4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Pred: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Pred: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Real: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4,863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2,703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Real: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2,665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4,769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4846320" y="2651760"/>
            <a:ext cx="3840480" cy="2100000"/>
          </a:xfrm>
          <a:prstGeom prst="roundRect">
            <a:avLst>
              <a:gd name="adj" fmla="val 4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5029200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Interpretacion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029200" y="3108960"/>
            <a:ext cx="347472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AUC 0.70 indica capacidad discriminativa moderada-buena. Dado un dataset con 100 features ruidosas y peculiaridades, es un resultado solido.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Recall 64.2%: de cada 100 churners reales, identificamos ~64.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El threshold de 0.50 se puede ajustar segun el coste de FP vs FN del negocio.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Entendiendo las Metricas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09728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011680" y="114300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bajo la curva ROC. Mide la capacidad del modelo de separar las dos clases independientemente del threshold.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148132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metrica principal porque no depende de un punto de corte arbitrario.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196596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20391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011680" y="201168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que predecimos como churn, que % realmente lo son.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011680" y="235000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precision = menos falsos positivos = menos gasto en retencion de clientes que no iban a irse.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283464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2907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11680" y="28803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churners reales, que % identificamos.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21868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recall = detectamos mas churners = menos ingresos perdidos por clientes no identificados.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57200" y="370332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37764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011680" y="374904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armonica de Precision y Recall.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011680" y="408736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Equilibra ambas metricas. Util cuando el coste de FP y FN es similar.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SHAP: Interpretabilidad del Modelo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389120" cy="3383280"/>
          </a:xfrm>
          <a:prstGeom prst="roundRect">
            <a:avLst>
              <a:gd name="adj" fmla="val 216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Features (SHAP Values)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320040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85000"/>
            </a:srgbClr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288036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79000"/>
            </a:srgbClr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mou_Mean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2194560"/>
            <a:ext cx="256032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73000"/>
            </a:srgbClr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2468880"/>
            <a:ext cx="224028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67000"/>
            </a:srgbClr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2743200"/>
            <a:ext cx="192024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61000"/>
            </a:srgbClr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160020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55000"/>
            </a:srgbClr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580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roam_Mean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" y="3291840"/>
            <a:ext cx="128016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49000"/>
            </a:srgbClr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580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avg3mou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3566160"/>
            <a:ext cx="96012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43000"/>
            </a:srgbClr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37000"/>
            </a:srgbClr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858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totrev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" y="4114800"/>
            <a:ext cx="32004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31000"/>
            </a:srgbClr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85800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109728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30352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Interpretacion clave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303520" y="160020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change_mou (cambio en minutos de uso) es el predictor mas fuerte: una caida en el uso es la senal mas clara de abandono.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mou_Mean y eqpdays: clientes con poco uso y equipos viejos tienen mayor riesgo.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months: clientes nuevos (&lt;6 meses) son mas volatiles.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call_fail_rate (feature nueva): la calidad de servicio impacta directamente en churn.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078D4"/>
                </a:solidFill>
              </a:rPr>
              <a:t>SHAP nos da explicaciones por cliente, no solo globales.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Negocio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curve, analisis de threshold y recomendaciones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Lift: Impacto en Negocio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274320" y="109728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577840" y="1097280"/>
            <a:ext cx="3200400" cy="3500000"/>
          </a:xfrm>
          <a:prstGeom prst="roundRect">
            <a:avLst>
              <a:gd name="adj" fmla="val 228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0" y="1097280"/>
            <a:ext cx="54864" cy="32004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06440" y="11887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practico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806440" y="1554480"/>
            <a:ext cx="283464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Contactando solo al top 10% de clientes por riesgo, capturamos ~16% de los churners.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</a:rPr>
              <a:t>Lift de 1.59x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vs contactar al azar.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Esto significa un 59% mas de eficiencia en campanas de retencion frente a un enfoque aleatorio.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El ahorro depende del coste de retencion y del ARPU del cliente, pero en telco el ROI suele ser positivo contactando al top 20-30%.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Ablacion: change_mou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Sospecha: change_mou podria contener informacion del futuro (leakage)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predictor #1 en SHAP. Si representara el cambio DESPUES de la decision de irse, seria data leakage. Lo verificamos entrenando el modelo sin esta variable y comparando.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D6EAF8"/>
          </a:solidFill>
          <a:ln/>
        </p:spPr>
        <p:txBody>
          <a:bodyPr/>
          <a:p/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4663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1887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Metrica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Delta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AUC-ROC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</a:rPr>
                        <a:t>0.6986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</a:rPr>
                        <a:t>~3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F1 Score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</a:rPr>
                        <a:t>0.6399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</a:rPr>
                        <a:t>~2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760720" y="251460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6517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55080" y="2651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94360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&lt; 5 pp: change_mou NO es leakage. Es una senal legitima de comportamiento previo al churn.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de Negocio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Campanas de retencion focalizadas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97280" y="1399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el modelo para priorizar el top 20-30% de clientes por riesgo. Lift de 1.49x vs aleatorio.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1810512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1856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renovacion de equipos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97280" y="21122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 eqpdays &gt; 365 tienen mayor churn. Ofrecer upgrade subsidiado.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523744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60904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" y="25694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calidad de red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97280" y="28254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call_fail_rate predice churn. Monitorizar y actuar proactivamente ante degradacion de servicio.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57200" y="3236976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74136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97280" y="32826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reforzado para nuevos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1097280" y="3538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&lt; 6 meses son volatiles. Implementar programa de bienvenida con incentivos.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457200" y="3950208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87368"/>
            <a:ext cx="320040" cy="32004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97280" y="3995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semanal automatizado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1097280" y="4251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pipeline periodicamente para actualizar scores y alimentar CRM.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Pipeline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modulares, Airflow DAG y Docker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Airflow: DAG de 3 Tasks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25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data_preparation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114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peculiaridades, feature engineering, encoding, split 70/15/15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972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972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~16s</a:t>
            </a:r>
            <a:endParaRPr lang="en-US" sz="9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2194560"/>
            <a:ext cx="182880" cy="182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2461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832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train_model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33832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entrenamiento, evaluacion en val set, guardado como pickle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0690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40690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~5s</a:t>
            </a:r>
            <a:endParaRPr lang="en-US" sz="9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194560"/>
            <a:ext cx="182880" cy="1828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2179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32588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3550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evaluate_model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63550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pickle, predicciones en holdout, metricas en logs, JSON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70408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  <p:txBody>
          <a:bodyPr/>
          <a:p/>
        </p:txBody>
      </p:sp>
      <p:sp>
        <p:nvSpPr>
          <p:cNvPr id="25" name="Text 18"/>
          <p:cNvSpPr/>
          <p:nvPr/>
        </p:nvSpPr>
        <p:spPr>
          <a:xfrm>
            <a:off x="70408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~1s</a:t>
            </a:r>
            <a:endParaRPr lang="en-US" sz="900" dirty="0"/>
          </a:p>
        </p:txBody>
      </p:sp>
      <p:sp>
        <p:nvSpPr>
          <p:cNvPr id="26" name="Shape 19"/>
          <p:cNvSpPr/>
          <p:nvPr/>
        </p:nvSpPr>
        <p:spPr>
          <a:xfrm>
            <a:off x="457200" y="39319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7" name="Text 20"/>
          <p:cNvSpPr/>
          <p:nvPr/>
        </p:nvSpPr>
        <p:spPr>
          <a:xfrm>
            <a:off x="640080" y="3977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</a:rPr>
              <a:t>PythonOperator</a:t>
            </a:r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 — cada task importa y ejecuta la funcion main() del script correspondiente. Si un paso falla, el DAG se detiene.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Infraestructura: Docker Compose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188720"/>
            <a:ext cx="1920240" cy="54864"/>
          </a:xfrm>
          <a:prstGeom prst="rect">
            <a:avLst/>
          </a:prstGeom>
          <a:solidFill>
            <a:srgbClr val="33679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PostgreSQL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churn_db + mlflow_db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560320" y="1188720"/>
            <a:ext cx="192024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65176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Webserver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UI en :8080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663440" y="1188720"/>
            <a:ext cx="192024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75488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Stack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 :3000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766560" y="1188720"/>
            <a:ext cx="192024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5800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2.12.2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:5000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37744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2468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diseno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283464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10 servicios Docker: Airflow (webserver, scheduler, triggerer, init), 3x PostgreSQL, MLflow, Pushgateway, Prometheus, Grafana.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Imagen custom con xgboost, sklearn, mlflow, etc. via Dockerfile + requirements.txt.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Monitoring stack: evaluate_model exporta metricas al Pushgateway, Prometheus las scrapea, Grafana las visualiza.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Volumenes montados: scripts/, data/, models/ y monitoring/ para desarrollo iterativo.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237744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84632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clave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4632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build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3172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airflow-init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465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37581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Airflow :8080 | MLflow :5000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4050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Grafana :3000 | Prometheus :9090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Calibri"/>
              </a:rPr>
              <a:t>Evidencia: Orquestacion y Experiment Tracking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0078D4"/>
                </a:solidFill>
                <a:latin typeface="Calibri"/>
              </a:rPr>
              <a:t>sdg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Calibri"/>
              </a:rPr>
              <a:t>Copyright © SDG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0000"/>
            <a:ext cx="4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Apache Airflow — DAG con 10 runs exitosos</a:t>
            </a:r>
          </a:p>
        </p:txBody>
      </p:sp>
      <p:pic>
        <p:nvPicPr>
          <p:cNvPr id="7" name="Picture 6" descr="airflow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0000"/>
            <a:ext cx="4000000" cy="21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00000" y="860000"/>
            <a:ext cx="4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MLflow 2.12.2 — Run completado con metricas</a:t>
            </a:r>
          </a:p>
        </p:txBody>
      </p:sp>
      <p:pic>
        <p:nvPicPr>
          <p:cNvPr id="9" name="Picture 8" descr="mlflow_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00" y="1150000"/>
            <a:ext cx="4000000" cy="21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3400000"/>
            <a:ext cx="82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Airflow ejecuta el DAG de 3 tasks (data_preparation → train_model → evaluate_model) en ~1 min 21s. MLflow registra automaticamente 41 hiperparametros y 4 metricas de validacion (val_auc_roc=0.6913, val_f1=0.6376). Cada run queda versionado para comparacion futura.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Calibri"/>
              </a:rPr>
              <a:t>Evidencia: Monitoreo con Prometheus y Grafana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0078D4"/>
                </a:solidFill>
                <a:latin typeface="Calibri"/>
              </a:rPr>
              <a:t>sdg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Calibri"/>
              </a:rPr>
              <a:t>Copyright © SDG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0000"/>
            <a:ext cx="54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Grafana — Dashboard Churn Prediction Pipeline</a:t>
            </a:r>
          </a:p>
        </p:txBody>
      </p:sp>
      <p:pic>
        <p:nvPicPr>
          <p:cNvPr id="7" name="Picture 6" descr="grafana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0000"/>
            <a:ext cx="5400000" cy="28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00000" y="860000"/>
            <a:ext cx="27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Prometheus — Metricas en tiempo real</a:t>
            </a:r>
          </a:p>
        </p:txBody>
      </p:sp>
      <p:pic>
        <p:nvPicPr>
          <p:cNvPr id="9" name="Picture 8" descr="prometheus_qu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000" y="1150000"/>
            <a:ext cx="2700000" cy="13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00000" y="2550000"/>
            <a:ext cx="2700000" cy="1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Calibri"/>
              </a:rPr>
              <a:t>El pipeline exporta metricas al Pushgateway tras cada ejecucion. Prometheus las scrapea cada 15s. El dashboard muestra AUC-ROC, F1, confusion matrix, lift por percentil y datos del pipeline en tiempo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00000"/>
            <a:ext cx="82000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B2A4A"/>
                </a:solidFill>
                <a:latin typeface="Calibri"/>
              </a:rPr>
              <a:t>Stack completo: evaluate_model.py → metrics_exporter.py → Pushgateway (:9091) → Prometheus (:9090) → Grafana (:3000)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Resumen, limitaciones y siguientes pasos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y Siguientes Pasos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hemos construido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201168" cy="201168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32688" y="20116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features nuevas con logica de negocio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23160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32688" y="237744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tuneado: AUC 0.70, Lift 1.59x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88920"/>
            <a:ext cx="201168" cy="20116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32688" y="274320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para explicabilidad por cliente</a:t>
            </a:r>
            <a:endParaRPr lang="en-US" sz="11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32688" y="310896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Airflow + Docker (10 servicios)</a:t>
            </a:r>
            <a:endParaRPr lang="en-US" sz="11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520440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932688" y="347472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MLflow: persistencia y tracking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886200"/>
            <a:ext cx="201168" cy="201168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14"/>
          <p:cNvSpPr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Siguientes pasos</a:t>
            </a:r>
            <a:endParaRPr lang="en-US" sz="1400" dirty="0"/>
          </a:p>
        </p:txBody>
      </p:sp>
      <p:sp>
        <p:nvSpPr>
          <p:cNvPr id="24" name="Text 15"/>
          <p:cNvSpPr/>
          <p:nvPr/>
        </p:nvSpPr>
        <p:spPr>
          <a:xfrm>
            <a:off x="4937760" y="16459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Feature store para centralizar features reutilizables entre modelos.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A/B testing para validar impacto real de las campanas de retencion.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Datos reales desbalanceados: adaptar con SMOTE/class_weight (~2%).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Alertas automaticas en Grafana (umbrales de AUC, drift detection).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CI/CD para reentrenamiento automatico con datos frescos.</a:t>
            </a:r>
            <a:endParaRPr lang="en-US" sz="1050" dirty="0"/>
          </a:p>
        </p:txBody>
      </p:sp>
      <p:sp>
        <p:nvSpPr>
          <p:cNvPr id="50" name="Text 49"/>
          <p:cNvSpPr/>
          <p:nvPr/>
        </p:nvSpPr>
        <p:spPr>
          <a:xfrm>
            <a:off x="932688" y="38404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Grafana: monitoreo en vivo</a:t>
            </a:r>
            <a:endParaRPr lang="en-US" sz="1100" dirty="0"/>
          </a:p>
        </p:txBody>
      </p:sp>
      <p:pic>
        <p:nvPicPr>
          <p:cNvPr id="51" name="Picture 5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840480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32688" y="1645920"/>
            <a:ext cx="3383280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>
                <a:solidFill>
                  <a:srgbClr val="4B5563"/>
                </a:solidFill>
                <a:latin typeface="Calibri"/>
              </a:rPr>
              <a:t>EDA profundo + 13 peculiaridades detectadas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7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3840480" y="2377440"/>
            <a:ext cx="1463040" cy="365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2606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Respuestas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3657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Ángel Montero  |  ma2montero@gmail.com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Churn Prediction — Prueba Tecnica SDG Group</dc:title>
  <dc:subject>PptxGenJS Presentation</dc:subject>
  <dc:creator>Tomas Montero</dc:creator>
  <cp:lastModifiedBy>Tomas Montero</cp:lastModifiedBy>
  <cp:revision>1</cp:revision>
  <dcterms:created xsi:type="dcterms:W3CDTF">2026-04-22T22:06:21Z</dcterms:created>
  <dcterms:modified xsi:type="dcterms:W3CDTF">2026-04-22T22:06:21Z</dcterms:modified>
</cp:coreProperties>
</file>